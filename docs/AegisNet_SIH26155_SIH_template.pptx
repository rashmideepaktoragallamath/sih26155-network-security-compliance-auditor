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Demo: open the live app, choose Paste / edit config, load Cisco - weak. Point at the score (10/100), the Common Security Model table with line numbers, then one opened finding.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Core idea in one table: the same attribute, remote_logging = false, comes out of two different vendor syntaxes, and one rule produces one finding with a vendor-specific fix and rollback. AI is planned as an interpreter only; the rule engine always decides.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All numbers on this slide were measured on the live app: weak Cisco 10, after fixing SSH 30, hardened Cisco 100. 5 test configs = 4 valid vendor configs and 1 invalid file used to prove the audit halts.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Only quote a time saving if you have measured it yourself (for example manual check of one config vs AegisNet). No number is claimed on this slide.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Confirm CERT-In items (i) and (iv) against the official PDF before presenting. CIS Benchmark section numbers are not shown because they are not verified yet.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pain: one auditor, many vendor syntaxes, days of manual checking. AegisNet converts every vendor into one Common Security Model and audits it once. Cisco and Juniper work today; Fortinet and Palo Alto are the next adapters.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AEGISNET AI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212848"/>
            <a:ext cx="5943600" cy="265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SIH26155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AI-Driven Multi-Vendor Network Security Compliance Auditor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 – Blockchain and Cybersecurity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 – 168312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Ansarash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agline"/>
          <p:cNvSpPr txBox="1"/>
          <p:nvPr/>
        </p:nvSpPr>
        <p:spPr>
          <a:xfrm>
            <a:off x="329184" y="181051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1" u="none">
                <a:solidFill>
                  <a:srgbClr val="0D9488"/>
                </a:solidFill>
                <a:latin typeface="Calibri"/>
              </a:rPr>
              <a:t>Many vendor syntaxes. One security model. One auditable verdict.</a:t>
            </a:r>
          </a:p>
        </p:txBody>
      </p:sp>
      <p:sp>
        <p:nvSpPr>
          <p:cNvPr id="1028" name="Vendor heading"/>
          <p:cNvSpPr txBox="1"/>
          <p:nvPr/>
        </p:nvSpPr>
        <p:spPr>
          <a:xfrm>
            <a:off x="329184" y="4846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VENDOR COVERAGE</a:t>
            </a:r>
          </a:p>
        </p:txBody>
      </p:sp>
      <p:sp>
        <p:nvSpPr>
          <p:cNvPr id="1029" name="Cisco IOS chip"/>
          <p:cNvSpPr/>
          <p:nvPr/>
        </p:nvSpPr>
        <p:spPr>
          <a:xfrm>
            <a:off x="329184" y="516636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E3F4F1"/>
          </a:solidFill>
          <a:ln w="12700">
            <a:solidFill>
              <a:srgbClr val="0D948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30" name="Cisco IOS label"/>
          <p:cNvSpPr txBox="1"/>
          <p:nvPr/>
        </p:nvSpPr>
        <p:spPr>
          <a:xfrm>
            <a:off x="438912" y="5166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 u="none">
                <a:solidFill>
                  <a:srgbClr val="1F3864"/>
                </a:solidFill>
                <a:latin typeface="Calibri"/>
              </a:rPr>
              <a:t>Cisco IOS  </a:t>
            </a:r>
            <a:r>
              <a:rPr sz="1100" b="1" i="0" u="none">
                <a:solidFill>
                  <a:srgbClr val="0D9488"/>
                </a:solidFill>
                <a:latin typeface="Calibri"/>
              </a:rPr>
              <a:t>✓ Implemented</a:t>
            </a:r>
          </a:p>
        </p:txBody>
      </p:sp>
      <p:sp>
        <p:nvSpPr>
          <p:cNvPr id="1031" name="Juniper Junos chip"/>
          <p:cNvSpPr/>
          <p:nvPr/>
        </p:nvSpPr>
        <p:spPr>
          <a:xfrm>
            <a:off x="3255264" y="516636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E3F4F1"/>
          </a:solidFill>
          <a:ln w="12700">
            <a:solidFill>
              <a:srgbClr val="0D948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32" name="Juniper Junos label"/>
          <p:cNvSpPr txBox="1"/>
          <p:nvPr/>
        </p:nvSpPr>
        <p:spPr>
          <a:xfrm>
            <a:off x="3364992" y="5166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 u="none">
                <a:solidFill>
                  <a:srgbClr val="1F3864"/>
                </a:solidFill>
                <a:latin typeface="Calibri"/>
              </a:rPr>
              <a:t>Juniper Junos  </a:t>
            </a:r>
            <a:r>
              <a:rPr sz="1100" b="1" i="0" u="none">
                <a:solidFill>
                  <a:srgbClr val="0D9488"/>
                </a:solidFill>
                <a:latin typeface="Calibri"/>
              </a:rPr>
              <a:t>✓ Implemented</a:t>
            </a:r>
          </a:p>
        </p:txBody>
      </p:sp>
      <p:sp>
        <p:nvSpPr>
          <p:cNvPr id="1033" name="Fortinet FortiOS chip"/>
          <p:cNvSpPr/>
          <p:nvPr/>
        </p:nvSpPr>
        <p:spPr>
          <a:xfrm>
            <a:off x="329184" y="5733288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E3F4F1"/>
          </a:solidFill>
          <a:ln w="12700">
            <a:solidFill>
              <a:srgbClr val="0D948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34" name="Fortinet FortiOS label"/>
          <p:cNvSpPr txBox="1"/>
          <p:nvPr/>
        </p:nvSpPr>
        <p:spPr>
          <a:xfrm>
            <a:off x="438912" y="573328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 u="none">
                <a:solidFill>
                  <a:srgbClr val="1F3864"/>
                </a:solidFill>
                <a:latin typeface="Calibri"/>
              </a:rPr>
              <a:t>Fortinet FortiOS  </a:t>
            </a:r>
            <a:r>
              <a:rPr sz="1100" b="1" i="0" u="none">
                <a:solidFill>
                  <a:srgbClr val="0D9488"/>
                </a:solidFill>
                <a:latin typeface="Calibri"/>
              </a:rPr>
              <a:t>✓ Implemented</a:t>
            </a:r>
          </a:p>
        </p:txBody>
      </p:sp>
      <p:sp>
        <p:nvSpPr>
          <p:cNvPr id="1035" name="Palo Alto PAN-OS chip"/>
          <p:cNvSpPr/>
          <p:nvPr/>
        </p:nvSpPr>
        <p:spPr>
          <a:xfrm>
            <a:off x="3255264" y="5733288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1036" name="Palo Alto PAN-OS label"/>
          <p:cNvSpPr txBox="1"/>
          <p:nvPr/>
        </p:nvSpPr>
        <p:spPr>
          <a:xfrm>
            <a:off x="3364992" y="573328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 u="none">
                <a:solidFill>
                  <a:srgbClr val="64748B"/>
                </a:solidFill>
                <a:latin typeface="Calibri"/>
              </a:rPr>
              <a:t>Palo Alto PAN-OS  </a:t>
            </a:r>
            <a:r>
              <a:rPr sz="1100" b="1" i="0" u="none">
                <a:solidFill>
                  <a:srgbClr val="B45309"/>
                </a:solidFill>
                <a:latin typeface="Calibri"/>
              </a:rPr>
              <a:t>◇ Planned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AEGISNET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/>
              <a:t>Ansarash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Legend"/>
          <p:cNvSpPr txBox="1"/>
          <p:nvPr/>
        </p:nvSpPr>
        <p:spPr>
          <a:xfrm>
            <a:off x="365760" y="635508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 u="none">
                <a:solidFill>
                  <a:srgbClr val="A7F3D0"/>
                </a:solidFill>
                <a:latin typeface="Calibri"/>
              </a:rPr>
              <a:t>✓ </a:t>
            </a:r>
            <a:r>
              <a:rPr sz="1100" b="0" i="0" u="none">
                <a:solidFill>
                  <a:srgbClr val="FFFFFF"/>
                </a:solidFill>
                <a:latin typeface="Calibri"/>
              </a:rPr>
              <a:t>Implemented (live today)     </a:t>
            </a:r>
            <a:r>
              <a:rPr sz="1100" b="1" i="0" u="none">
                <a:solidFill>
                  <a:srgbClr val="FCD34D"/>
                </a:solidFill>
                <a:latin typeface="Calibri"/>
              </a:rPr>
              <a:t>◇ </a:t>
            </a:r>
            <a:r>
              <a:rPr sz="1100" b="0" i="0" u="none">
                <a:solidFill>
                  <a:srgbClr val="FFFFFF"/>
                </a:solidFill>
                <a:latin typeface="Calibri"/>
              </a:rPr>
              <a:t>Planned (roadmap)</a:t>
            </a:r>
          </a:p>
        </p:txBody>
      </p:sp>
      <p:sp>
        <p:nvSpPr>
          <p:cNvPr id="15363" name="Section heading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 u="sng">
                <a:solidFill>
                  <a:srgbClr val="1F3864"/>
                </a:solidFill>
                <a:latin typeface="Calibri"/>
              </a:rPr>
              <a:t>❖ Proposed Solution</a:t>
            </a:r>
            <a:r>
              <a:rPr sz="1400" b="0" i="1" u="none">
                <a:solidFill>
                  <a:srgbClr val="0D9488"/>
                </a:solidFill>
                <a:latin typeface="Calibri"/>
              </a:rPr>
              <a:t>    Unified multi-vendor security compliance auditor</a:t>
            </a:r>
          </a:p>
        </p:txBody>
      </p:sp>
      <p:sp>
        <p:nvSpPr>
          <p:cNvPr id="15364" name="Step 1 card"/>
          <p:cNvSpPr/>
          <p:nvPr/>
        </p:nvSpPr>
        <p:spPr>
          <a:xfrm>
            <a:off x="45720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65" name="Step 1 badge"/>
          <p:cNvSpPr/>
          <p:nvPr/>
        </p:nvSpPr>
        <p:spPr>
          <a:xfrm>
            <a:off x="566928" y="1709928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66" name="Step 1 number"/>
          <p:cNvSpPr txBox="1"/>
          <p:nvPr/>
        </p:nvSpPr>
        <p:spPr>
          <a:xfrm>
            <a:off x="566928" y="170992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67" name="Step 1 title"/>
          <p:cNvSpPr txBox="1"/>
          <p:nvPr/>
        </p:nvSpPr>
        <p:spPr>
          <a:xfrm>
            <a:off x="987552" y="167335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INPUT</a:t>
            </a:r>
          </a:p>
        </p:txBody>
      </p:sp>
      <p:sp>
        <p:nvSpPr>
          <p:cNvPr id="15368" name="Step 1 text"/>
          <p:cNvSpPr txBox="1"/>
          <p:nvPr/>
        </p:nvSpPr>
        <p:spPr>
          <a:xfrm>
            <a:off x="566928" y="2130552"/>
            <a:ext cx="23865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 u="none">
                <a:solidFill>
                  <a:srgbClr val="1F2937"/>
                </a:solidFill>
                <a:latin typeface="Calibri"/>
              </a:rPr>
              <a:t>Cisco IOS, Juniper Junos or Fortinet FortiOS configuration, uploaded or pasted</a:t>
            </a:r>
          </a:p>
        </p:txBody>
      </p:sp>
      <p:sp>
        <p:nvSpPr>
          <p:cNvPr id="15369" name="Arrow 1"/>
          <p:cNvSpPr/>
          <p:nvPr/>
        </p:nvSpPr>
        <p:spPr>
          <a:xfrm rot="5400000">
            <a:off x="3127248" y="2125979"/>
            <a:ext cx="182880" cy="173736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70" name="Step 2 card"/>
          <p:cNvSpPr/>
          <p:nvPr/>
        </p:nvSpPr>
        <p:spPr>
          <a:xfrm>
            <a:off x="3346704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1" name="Step 2 badge"/>
          <p:cNvSpPr/>
          <p:nvPr/>
        </p:nvSpPr>
        <p:spPr>
          <a:xfrm>
            <a:off x="3456432" y="1709928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2" name="Step 2 number"/>
          <p:cNvSpPr txBox="1"/>
          <p:nvPr/>
        </p:nvSpPr>
        <p:spPr>
          <a:xfrm>
            <a:off x="3456432" y="170992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73" name="Step 2 title"/>
          <p:cNvSpPr txBox="1"/>
          <p:nvPr/>
        </p:nvSpPr>
        <p:spPr>
          <a:xfrm>
            <a:off x="3877056" y="167335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PARSE AND NORMALISE</a:t>
            </a:r>
          </a:p>
        </p:txBody>
      </p:sp>
      <p:sp>
        <p:nvSpPr>
          <p:cNvPr id="15374" name="Step 2 text"/>
          <p:cNvSpPr txBox="1"/>
          <p:nvPr/>
        </p:nvSpPr>
        <p:spPr>
          <a:xfrm>
            <a:off x="3456432" y="2130552"/>
            <a:ext cx="23865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 u="none">
                <a:solidFill>
                  <a:srgbClr val="1F2937"/>
                </a:solidFill>
                <a:latin typeface="Calibri"/>
              </a:rPr>
              <a:t>Vendor detection → vendor adapter → Common Security Model with line-level evidence</a:t>
            </a:r>
          </a:p>
        </p:txBody>
      </p:sp>
      <p:sp>
        <p:nvSpPr>
          <p:cNvPr id="15375" name="Arrow 2"/>
          <p:cNvSpPr/>
          <p:nvPr/>
        </p:nvSpPr>
        <p:spPr>
          <a:xfrm rot="5400000">
            <a:off x="6016752" y="2125979"/>
            <a:ext cx="182880" cy="173736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76" name="Step 3 card"/>
          <p:cNvSpPr/>
          <p:nvPr/>
        </p:nvSpPr>
        <p:spPr>
          <a:xfrm>
            <a:off x="6236208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7" name="Step 3 badge"/>
          <p:cNvSpPr/>
          <p:nvPr/>
        </p:nvSpPr>
        <p:spPr>
          <a:xfrm>
            <a:off x="6345936" y="1709928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8" name="Step 3 number"/>
          <p:cNvSpPr txBox="1"/>
          <p:nvPr/>
        </p:nvSpPr>
        <p:spPr>
          <a:xfrm>
            <a:off x="6345936" y="170992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79" name="Step 3 title"/>
          <p:cNvSpPr txBox="1"/>
          <p:nvPr/>
        </p:nvSpPr>
        <p:spPr>
          <a:xfrm>
            <a:off x="6766560" y="167335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UNIFIED COMPLIANCE ENGINE</a:t>
            </a:r>
          </a:p>
        </p:txBody>
      </p:sp>
      <p:sp>
        <p:nvSpPr>
          <p:cNvPr id="15380" name="Step 3 text"/>
          <p:cNvSpPr txBox="1"/>
          <p:nvPr/>
        </p:nvSpPr>
        <p:spPr>
          <a:xfrm>
            <a:off x="6345936" y="2130552"/>
            <a:ext cx="23865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 u="none">
                <a:solidFill>
                  <a:srgbClr val="1F2937"/>
                </a:solidFill>
                <a:latin typeface="Calibri"/>
              </a:rPr>
              <a:t>8 deterministic controls, severity-weighted score, NIST SP 800-53 and CERT-In mapping</a:t>
            </a:r>
          </a:p>
        </p:txBody>
      </p:sp>
      <p:sp>
        <p:nvSpPr>
          <p:cNvPr id="15381" name="Arrow 3"/>
          <p:cNvSpPr/>
          <p:nvPr/>
        </p:nvSpPr>
        <p:spPr>
          <a:xfrm rot="5400000">
            <a:off x="8906256" y="2125979"/>
            <a:ext cx="182880" cy="173736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82" name="Step 4 card"/>
          <p:cNvSpPr/>
          <p:nvPr/>
        </p:nvSpPr>
        <p:spPr>
          <a:xfrm>
            <a:off x="9125712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3" name="Step 4 badge"/>
          <p:cNvSpPr/>
          <p:nvPr/>
        </p:nvSpPr>
        <p:spPr>
          <a:xfrm>
            <a:off x="9235440" y="1709928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4" name="Step 4 number"/>
          <p:cNvSpPr txBox="1"/>
          <p:nvPr/>
        </p:nvSpPr>
        <p:spPr>
          <a:xfrm>
            <a:off x="9235440" y="170992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300" b="1" i="0" u="non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385" name="Step 4 title"/>
          <p:cNvSpPr txBox="1"/>
          <p:nvPr/>
        </p:nvSpPr>
        <p:spPr>
          <a:xfrm>
            <a:off x="9656064" y="167335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ACTIONABLE OUTPUT</a:t>
            </a:r>
          </a:p>
        </p:txBody>
      </p:sp>
      <p:sp>
        <p:nvSpPr>
          <p:cNvPr id="15386" name="Step 4 text"/>
          <p:cNvSpPr txBox="1"/>
          <p:nvPr/>
        </p:nvSpPr>
        <p:spPr>
          <a:xfrm>
            <a:off x="9235440" y="2130552"/>
            <a:ext cx="23865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 u="none">
                <a:solidFill>
                  <a:srgbClr val="1F2937"/>
                </a:solidFill>
                <a:latin typeface="Calibri"/>
              </a:rPr>
              <a:t>Prioritised findings, vendor-specific fix with rollback, JSON report</a:t>
            </a:r>
          </a:p>
        </p:txBody>
      </p:sp>
      <p:sp>
        <p:nvSpPr>
          <p:cNvPr id="15387" name="Differentiators card"/>
          <p:cNvSpPr/>
          <p:nvPr/>
        </p:nvSpPr>
        <p:spPr>
          <a:xfrm>
            <a:off x="457200" y="2971800"/>
            <a:ext cx="5760720" cy="3291840"/>
          </a:xfrm>
          <a:prstGeom prst="roundRect">
            <a:avLst>
              <a:gd name="adj" fmla="val 1944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8" name="Differentiators heading"/>
          <p:cNvSpPr txBox="1"/>
          <p:nvPr/>
        </p:nvSpPr>
        <p:spPr>
          <a:xfrm>
            <a:off x="640080" y="30632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 u="none">
                <a:solidFill>
                  <a:srgbClr val="1F3864"/>
                </a:solidFill>
                <a:latin typeface="Calibri"/>
              </a:rPr>
              <a:t>What makes AegisNet different</a:t>
            </a:r>
          </a:p>
        </p:txBody>
      </p:sp>
      <p:sp>
        <p:nvSpPr>
          <p:cNvPr id="15389" name="Differentiators list"/>
          <p:cNvSpPr txBox="1"/>
          <p:nvPr/>
        </p:nvSpPr>
        <p:spPr>
          <a:xfrm>
            <a:off x="640080" y="3456432"/>
            <a:ext cx="54406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1000"/>
              </a:spcAft>
              <a:buNone/>
            </a:pPr>
            <a:r>
              <a:rPr sz="14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400" b="0" i="0" u="none">
                <a:solidFill>
                  <a:srgbClr val="1F2937"/>
                </a:solidFill>
                <a:latin typeface="Calibri"/>
              </a:rPr>
              <a:t>Write a control once and audit it on every vendor</a:t>
            </a:r>
          </a:p>
          <a:p>
            <a:pPr algn="l" marL="0" indent="0">
              <a:spcAft>
                <a:spcPts val="1000"/>
              </a:spcAft>
              <a:buNone/>
            </a:pPr>
            <a:r>
              <a:rPr sz="14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400" b="0" i="0" u="none">
                <a:solidFill>
                  <a:srgbClr val="1F2937"/>
                </a:solidFill>
                <a:latin typeface="Calibri"/>
              </a:rPr>
              <a:t>Every finding points to the exact line in the original config</a:t>
            </a:r>
          </a:p>
          <a:p>
            <a:pPr algn="l" marL="0" indent="0">
              <a:spcAft>
                <a:spcPts val="1000"/>
              </a:spcAft>
              <a:buNone/>
            </a:pPr>
            <a:r>
              <a:rPr sz="14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400" b="0" i="0" u="none">
                <a:solidFill>
                  <a:srgbClr val="1F2937"/>
                </a:solidFill>
                <a:latin typeface="Calibri"/>
              </a:rPr>
              <a:t>Findings mapped to NIST SP 800-53 and the CERT-In Directions (2022)</a:t>
            </a:r>
          </a:p>
          <a:p>
            <a:pPr algn="l" marL="0" indent="0">
              <a:spcAft>
                <a:spcPts val="1000"/>
              </a:spcAft>
              <a:buNone/>
            </a:pPr>
            <a:r>
              <a:rPr sz="14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400" b="0" i="0" u="none">
                <a:solidFill>
                  <a:srgbClr val="1F2937"/>
                </a:solidFill>
                <a:latin typeface="Calibri"/>
              </a:rPr>
              <a:t>Fix and rollback commands generated per vendor</a:t>
            </a:r>
          </a:p>
          <a:p>
            <a:pPr algn="l" marL="0" indent="0">
              <a:spcAft>
                <a:spcPts val="1000"/>
              </a:spcAft>
              <a:buNone/>
            </a:pPr>
            <a:r>
              <a:rPr sz="14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400" b="0" i="0" u="none">
                <a:solidFill>
                  <a:srgbClr val="1F2937"/>
                </a:solidFill>
                <a:latin typeface="Calibri"/>
              </a:rPr>
              <a:t>Live re-audit: edit the config and watch the score change</a:t>
            </a:r>
          </a:p>
          <a:p>
            <a:pPr algn="l" marL="0" indent="0">
              <a:spcAft>
                <a:spcPts val="1000"/>
              </a:spcAft>
              <a:buNone/>
            </a:pPr>
            <a:r>
              <a:rPr sz="14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400" b="0" i="0" u="none">
                <a:solidFill>
                  <a:srgbClr val="1F2937"/>
                </a:solidFill>
                <a:latin typeface="Calibri"/>
              </a:rPr>
              <a:t>Secrets masked before anything is shown or exported</a:t>
            </a:r>
          </a:p>
          <a:p>
            <a:pPr algn="l" marL="0" indent="0">
              <a:buNone/>
            </a:pPr>
            <a:r>
              <a:rPr sz="14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400" b="0" i="0" u="none">
                <a:solidFill>
                  <a:srgbClr val="1F2937"/>
                </a:solidFill>
                <a:latin typeface="Calibri"/>
              </a:rPr>
              <a:t>A “Needs Review” state when a config can't prove a setting</a:t>
            </a:r>
          </a:p>
        </p:txBody>
      </p:sp>
      <p:pic>
        <p:nvPicPr>
          <p:cNvPr id="15390" name="Screenshot: weak Cisco overview" descr="Screenshot: weak Cisco overview"/>
          <p:cNvPicPr>
            <a:picLocks noChangeAspect="1"/>
          </p:cNvPicPr>
          <p:nvPr/>
        </p:nvPicPr>
        <p:blipFill>
          <a:blip r:embed="rId4"/>
          <a:srcRect b="69000"/>
          <a:stretch>
            <a:fillRect/>
          </a:stretch>
        </p:blipFill>
        <p:spPr>
          <a:xfrm>
            <a:off x="6400800" y="3210000"/>
            <a:ext cx="5330952" cy="675312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5391" name="Planned card"/>
          <p:cNvSpPr/>
          <p:nvPr/>
        </p:nvSpPr>
        <p:spPr>
          <a:xfrm>
            <a:off x="6400800" y="5321808"/>
            <a:ext cx="5330952" cy="941832"/>
          </a:xfrm>
          <a:prstGeom prst="roundRect">
            <a:avLst>
              <a:gd name="adj" fmla="val 6796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92" name="Planned text"/>
          <p:cNvSpPr txBox="1"/>
          <p:nvPr/>
        </p:nvSpPr>
        <p:spPr>
          <a:xfrm>
            <a:off x="6510528" y="5321808"/>
            <a:ext cx="512064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150" b="1" i="0" u="none">
                <a:solidFill>
                  <a:srgbClr val="B45309"/>
                </a:solidFill>
                <a:latin typeface="Calibri"/>
              </a:rPr>
              <a:t>◇ Planned  </a:t>
            </a:r>
            <a:r>
              <a:rPr sz="1150" b="0" i="0" u="none">
                <a:solidFill>
                  <a:srgbClr val="1F2937"/>
                </a:solidFill>
                <a:latin typeface="Calibri"/>
              </a:rPr>
              <a:t>AI-assisted normalisation for unfamiliar syntax (with confidence score and human review), AI explanations of findings, a Palo Alto PAN-OS adapter.</a:t>
            </a:r>
          </a:p>
          <a:p>
            <a:pPr algn="l" marL="0" indent="0">
              <a:buNone/>
            </a:pPr>
            <a:r>
              <a:rPr sz="1150" b="1" i="1" u="none">
                <a:solidFill>
                  <a:srgbClr val="0D9488"/>
                </a:solidFill>
                <a:latin typeface="Calibri"/>
              </a:rPr>
              <a:t>AI interprets. Deterministic rules decide.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6400800" y="2990000"/>
            <a:ext cx="5330952" cy="21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i="1">
                <a:solidFill>
                  <a:srgbClr val="64748B"/>
                </a:solidFill>
                <a:latin typeface="Calibri"/>
              </a:rPr>
              <a:t>Cisco IOS weak sample (live app)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6400800" y="4035312"/>
            <a:ext cx="5330952" cy="21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i="1">
                <a:solidFill>
                  <a:srgbClr val="64748B"/>
                </a:solidFill>
                <a:latin typeface="Calibri"/>
              </a:rPr>
              <a:t>Same engine, third vendor: Fortinet FortiOS weak sample (live app)</a:t>
            </a:r>
          </a:p>
        </p:txBody>
      </p:sp>
      <p:pic>
        <p:nvPicPr>
          <p:cNvPr id="15395" name="Screenshot: Fortinet weak" descr="forti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65312"/>
            <a:ext cx="5330952" cy="566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/>
              <a:t>Ansarash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Legend"/>
          <p:cNvSpPr txBox="1"/>
          <p:nvPr/>
        </p:nvSpPr>
        <p:spPr>
          <a:xfrm>
            <a:off x="365760" y="635508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 u="none">
                <a:solidFill>
                  <a:srgbClr val="A7F3D0"/>
                </a:solidFill>
                <a:latin typeface="Calibri"/>
              </a:rPr>
              <a:t>✓ </a:t>
            </a:r>
            <a:r>
              <a:rPr sz="1100" b="0" i="0" u="none">
                <a:solidFill>
                  <a:srgbClr val="FFFFFF"/>
                </a:solidFill>
                <a:latin typeface="Calibri"/>
              </a:rPr>
              <a:t>Implemented (live today)     </a:t>
            </a:r>
            <a:r>
              <a:rPr sz="1100" b="1" i="0" u="none">
                <a:solidFill>
                  <a:srgbClr val="FCD34D"/>
                </a:solidFill>
                <a:latin typeface="Calibri"/>
              </a:rPr>
              <a:t>◇ </a:t>
            </a:r>
            <a:r>
              <a:rPr sz="1100" b="0" i="0" u="none">
                <a:solidFill>
                  <a:srgbClr val="FFFFFF"/>
                </a:solidFill>
                <a:latin typeface="Calibri"/>
              </a:rPr>
              <a:t>Planned (roadmap)</a:t>
            </a:r>
          </a:p>
        </p:txBody>
      </p:sp>
      <p:sp>
        <p:nvSpPr>
          <p:cNvPr id="17411" name="Flow 1"/>
          <p:cNvSpPr/>
          <p:nvPr/>
        </p:nvSpPr>
        <p:spPr>
          <a:xfrm>
            <a:off x="457200" y="123444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2" name="Flow 1 text"/>
          <p:cNvSpPr txBox="1"/>
          <p:nvPr/>
        </p:nvSpPr>
        <p:spPr>
          <a:xfrm>
            <a:off x="457200" y="12344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Config</a:t>
            </a:r>
          </a:p>
        </p:txBody>
      </p:sp>
      <p:sp>
        <p:nvSpPr>
          <p:cNvPr id="17413" name="Flow sep 1"/>
          <p:cNvSpPr txBox="1"/>
          <p:nvPr/>
        </p:nvSpPr>
        <p:spPr>
          <a:xfrm>
            <a:off x="1463040" y="1234440"/>
            <a:ext cx="1280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600" b="1" i="0" u="none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7414" name="Flow 2"/>
          <p:cNvSpPr/>
          <p:nvPr/>
        </p:nvSpPr>
        <p:spPr>
          <a:xfrm>
            <a:off x="1591056" y="123444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5" name="Flow 2 text"/>
          <p:cNvSpPr txBox="1"/>
          <p:nvPr/>
        </p:nvSpPr>
        <p:spPr>
          <a:xfrm>
            <a:off x="1591056" y="123444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Vendor detection</a:t>
            </a:r>
          </a:p>
        </p:txBody>
      </p:sp>
      <p:sp>
        <p:nvSpPr>
          <p:cNvPr id="17416" name="Flow sep 2"/>
          <p:cNvSpPr txBox="1"/>
          <p:nvPr/>
        </p:nvSpPr>
        <p:spPr>
          <a:xfrm>
            <a:off x="3191256" y="1234440"/>
            <a:ext cx="1280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600" b="1" i="0" u="none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7417" name="Flow 3"/>
          <p:cNvSpPr/>
          <p:nvPr/>
        </p:nvSpPr>
        <p:spPr>
          <a:xfrm>
            <a:off x="3319272" y="12344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8" name="Flow 3 text"/>
          <p:cNvSpPr txBox="1"/>
          <p:nvPr/>
        </p:nvSpPr>
        <p:spPr>
          <a:xfrm>
            <a:off x="3319272" y="12344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Adapters (3 vendors)</a:t>
            </a:r>
          </a:p>
        </p:txBody>
      </p:sp>
      <p:sp>
        <p:nvSpPr>
          <p:cNvPr id="17419" name="Flow sep 3"/>
          <p:cNvSpPr txBox="1"/>
          <p:nvPr/>
        </p:nvSpPr>
        <p:spPr>
          <a:xfrm>
            <a:off x="5605272" y="1234440"/>
            <a:ext cx="1280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600" b="1" i="0" u="none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7420" name="Flow 4"/>
          <p:cNvSpPr/>
          <p:nvPr/>
        </p:nvSpPr>
        <p:spPr>
          <a:xfrm>
            <a:off x="5733288" y="123444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1" name="Flow 4 text"/>
          <p:cNvSpPr txBox="1"/>
          <p:nvPr/>
        </p:nvSpPr>
        <p:spPr>
          <a:xfrm>
            <a:off x="5733288" y="12344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Common Security Model</a:t>
            </a:r>
          </a:p>
        </p:txBody>
      </p:sp>
      <p:sp>
        <p:nvSpPr>
          <p:cNvPr id="17422" name="Flow sep 4"/>
          <p:cNvSpPr txBox="1"/>
          <p:nvPr/>
        </p:nvSpPr>
        <p:spPr>
          <a:xfrm>
            <a:off x="7882128" y="1234440"/>
            <a:ext cx="1280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600" b="1" i="0" u="none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7423" name="Flow 5"/>
          <p:cNvSpPr/>
          <p:nvPr/>
        </p:nvSpPr>
        <p:spPr>
          <a:xfrm>
            <a:off x="8010144" y="123444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4" name="Flow 5 text"/>
          <p:cNvSpPr txBox="1"/>
          <p:nvPr/>
        </p:nvSpPr>
        <p:spPr>
          <a:xfrm>
            <a:off x="8010144" y="12344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Rule engine</a:t>
            </a:r>
          </a:p>
        </p:txBody>
      </p:sp>
      <p:sp>
        <p:nvSpPr>
          <p:cNvPr id="17425" name="Flow sep 5"/>
          <p:cNvSpPr txBox="1"/>
          <p:nvPr/>
        </p:nvSpPr>
        <p:spPr>
          <a:xfrm>
            <a:off x="9427464" y="1234440"/>
            <a:ext cx="1280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600" b="1" i="0" u="none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17426" name="Flow 6"/>
          <p:cNvSpPr/>
          <p:nvPr/>
        </p:nvSpPr>
        <p:spPr>
          <a:xfrm>
            <a:off x="9555480" y="12344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7" name="Flow 6 text"/>
          <p:cNvSpPr txBox="1"/>
          <p:nvPr/>
        </p:nvSpPr>
        <p:spPr>
          <a:xfrm>
            <a:off x="9555480" y="12344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00" b="1" i="0" u="none">
                <a:solidFill>
                  <a:srgbClr val="FFFFFF"/>
                </a:solidFill>
                <a:latin typeface="Calibri"/>
              </a:rPr>
              <a:t>Findings + Remediation</a:t>
            </a:r>
          </a:p>
        </p:txBody>
      </p:sp>
      <p:sp>
        <p:nvSpPr>
          <p:cNvPr id="17428" name="Stack line"/>
          <p:cNvSpPr txBox="1"/>
          <p:nvPr/>
        </p:nvSpPr>
        <p:spPr>
          <a:xfrm>
            <a:off x="457200" y="1764792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 u="none">
                <a:solidFill>
                  <a:srgbClr val="1F3864"/>
                </a:solidFill>
                <a:latin typeface="Calibri"/>
              </a:rPr>
              <a:t>Stack  </a:t>
            </a:r>
            <a:r>
              <a:rPr sz="1200" b="0" i="0" u="none">
                <a:solidFill>
                  <a:srgbClr val="1F2937"/>
                </a:solidFill>
                <a:latin typeface="Calibri"/>
              </a:rPr>
              <a:t>Python • Streamlit • line-based adapters (comments ignored) • rule table • JSON export     </a:t>
            </a:r>
            <a:r>
              <a:rPr sz="1200" b="1" i="0" u="none">
                <a:solidFill>
                  <a:srgbClr val="B45309"/>
                </a:solidFill>
                <a:latin typeface="Calibri"/>
              </a:rPr>
              <a:t>◇ </a:t>
            </a:r>
            <a:r>
              <a:rPr sz="1200" b="0" i="0" u="none">
                <a:solidFill>
                  <a:srgbClr val="1F2937"/>
                </a:solidFill>
                <a:latin typeface="Calibri"/>
              </a:rPr>
              <a:t>LLM layer (Gemini, or a local model for air-gapped use)</a:t>
            </a:r>
          </a:p>
        </p:txBody>
      </p:sp>
      <p:sp>
        <p:nvSpPr>
          <p:cNvPr id="17429" name="Design points"/>
          <p:cNvSpPr txBox="1"/>
          <p:nvPr/>
        </p:nvSpPr>
        <p:spPr>
          <a:xfrm>
            <a:off x="457200" y="20299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200" b="0" i="0" u="none">
                <a:solidFill>
                  <a:srgbClr val="1F2937"/>
                </a:solidFill>
                <a:latin typeface="Calibri"/>
              </a:rPr>
              <a:t>Add a vendor with one parser function     </a:t>
            </a:r>
            <a:r>
              <a:rPr sz="12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200" b="0" i="0" u="none">
                <a:solidFill>
                  <a:srgbClr val="1F2937"/>
                </a:solidFill>
                <a:latin typeface="Calibri"/>
              </a:rPr>
              <a:t>Junos set + curly-brace, FortiOS config tree     </a:t>
            </a:r>
            <a:r>
              <a:rPr sz="12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200" b="0" i="0" u="none">
                <a:solidFill>
                  <a:srgbClr val="1F2937"/>
                </a:solidFill>
                <a:latin typeface="Calibri"/>
              </a:rPr>
              <a:t>Unrecognised vendor halts the audit, no guessing</a:t>
            </a:r>
          </a:p>
        </p:txBody>
      </p:sp>
      <p:sp>
        <p:nvSpPr>
          <p:cNvPr id="17430" name="Control heading"/>
          <p:cNvSpPr txBox="1"/>
          <p:nvPr/>
        </p:nvSpPr>
        <p:spPr>
          <a:xfrm>
            <a:off x="457200" y="23591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 u="none">
                <a:solidFill>
                  <a:srgbClr val="1F3864"/>
                </a:solidFill>
                <a:latin typeface="Calibri"/>
              </a:rPr>
              <a:t>One control, every vendor</a:t>
            </a:r>
          </a:p>
        </p:txBody>
      </p:sp>
      <p:graphicFrame>
        <p:nvGraphicFramePr>
          <p:cNvPr id="17431" name="Cross-vendor table"/>
          <p:cNvGraphicFramePr>
            <a:graphicFrameLocks noGrp="1"/>
          </p:cNvGraphicFramePr>
          <p:nvPr/>
        </p:nvGraphicFramePr>
        <p:xfrm>
          <a:off x="457200" y="2670048"/>
          <a:ext cx="5486400" cy="8412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0000"/>
                <a:gridCol w="1330000"/>
                <a:gridCol w="1450000"/>
                <a:gridCol w="145640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 i="0" u="none">
                          <a:solidFill>
                            <a:srgbClr val="FFFFFF"/>
                          </a:solidFill>
                          <a:latin typeface="Calibri"/>
                        </a:rPr>
                        <a:t>Common attribute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 u="none">
                          <a:solidFill>
                            <a:srgbClr val="FFFFFF"/>
                          </a:solidFill>
                          <a:latin typeface="Calibri"/>
                        </a:rPr>
                        <a:t>Cisco IOS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 u="none">
                          <a:solidFill>
                            <a:srgbClr val="FFFFFF"/>
                          </a:solidFill>
                          <a:latin typeface="Calibri"/>
                        </a:rPr>
                        <a:t>Juniper Junos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 u="none">
                          <a:solidFill>
                            <a:srgbClr val="FFFFFF"/>
                          </a:solidFill>
                          <a:latin typeface="Calibri"/>
                        </a:rPr>
                        <a:t>Fortinet FortiOS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ourier New"/>
                        </a:rPr>
                        <a:t>remote_logging = false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u="none">
                          <a:solidFill>
                            <a:srgbClr val="1F2937"/>
                          </a:solidFill>
                          <a:latin typeface="Calibri"/>
                        </a:rPr>
                        <a:t>no “logging host” line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u="none">
                          <a:solidFill>
                            <a:srgbClr val="1F2937"/>
                          </a:solidFill>
                          <a:latin typeface="Calibri"/>
                        </a:rPr>
                        <a:t>no “set system syslog host” line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u="none">
                          <a:solidFill>
                            <a:srgbClr val="1F2937"/>
                          </a:solidFill>
                          <a:latin typeface="Calibri"/>
                        </a:rPr>
                        <a:t>no syslogd server line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32" name="Finding card"/>
          <p:cNvSpPr/>
          <p:nvPr/>
        </p:nvSpPr>
        <p:spPr>
          <a:xfrm>
            <a:off x="457200" y="3657600"/>
            <a:ext cx="5486400" cy="690000"/>
          </a:xfrm>
          <a:prstGeom prst="roundRect">
            <a:avLst>
              <a:gd name="adj" fmla="val 8235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3" name="Finding text"/>
          <p:cNvSpPr txBox="1"/>
          <p:nvPr/>
        </p:nvSpPr>
        <p:spPr>
          <a:xfrm>
            <a:off x="594360" y="3657600"/>
            <a:ext cx="5230368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 u="none">
                <a:solidFill>
                  <a:srgbClr val="B45309"/>
                </a:solidFill>
                <a:latin typeface="Calibri"/>
              </a:rPr>
              <a:t>Finding AG-04 (Medium)  </a:t>
            </a:r>
            <a:r>
              <a:rPr sz="1250" b="0" i="0" u="none">
                <a:solidFill>
                  <a:srgbClr val="1F2937"/>
                </a:solidFill>
                <a:latin typeface="Calibri"/>
              </a:rPr>
              <a:t>Remote logging absent. Maps to NIST AU-2 and CERT-In Directions item (iv): logs retained for a rolling 180 days.</a:t>
            </a:r>
          </a:p>
        </p:txBody>
      </p:sp>
      <p:graphicFrame>
        <p:nvGraphicFramePr>
          <p:cNvPr id="17434" name="Fix rollback table"/>
          <p:cNvGraphicFramePr>
            <a:graphicFrameLocks noGrp="1"/>
          </p:cNvGraphicFramePr>
          <p:nvPr/>
        </p:nvGraphicFramePr>
        <p:xfrm>
          <a:off x="457200" y="4430000"/>
          <a:ext cx="5486400" cy="1280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7240"/>
                <a:gridCol w="2468880"/>
                <a:gridCol w="224028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 i="0" u="none">
                          <a:solidFill>
                            <a:srgbClr val="FFFFFF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 u="none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 u="none">
                          <a:solidFill>
                            <a:srgbClr val="FFFFFF"/>
                          </a:solidFill>
                          <a:latin typeface="Calibri"/>
                        </a:rPr>
                        <a:t>Rollback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 i="0" u="none">
                          <a:solidFill>
                            <a:srgbClr val="1F2937"/>
                          </a:solidFill>
                          <a:latin typeface="Calibri"/>
                        </a:rPr>
                        <a:t>Cisco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ourier New"/>
                        </a:rPr>
                        <a:t>logging host &lt;SYSLOG_IP&gt;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ourier New"/>
                        </a:rPr>
                        <a:t>no logging host &lt;SYSLOG_IP&gt;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 u="none">
                          <a:solidFill>
                            <a:srgbClr val="1F2937"/>
                          </a:solidFill>
                          <a:latin typeface="Calibri"/>
                        </a:rPr>
                        <a:t>Juniper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ourier New"/>
                        </a:rPr>
                        <a:t>set system syslog host &lt;SYSLOG_IP&gt; any notice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ourier New"/>
                        </a:rPr>
                        <a:t>delete system syslog host &lt;SYSLOG_IP&gt;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 i="0" u="none">
                          <a:solidFill>
                            <a:srgbClr val="1F2937"/>
                          </a:solidFill>
                          <a:latin typeface="Calibri"/>
                        </a:rPr>
                        <a:t>Fortinet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ourier New"/>
                        </a:rPr>
                        <a:t>syslogd: set status enable; set server &lt;SYSLOG_IP&gt;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ourier New"/>
                        </a:rPr>
                        <a:t>set status disable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35" name="Caption Cisco"/>
          <p:cNvSpPr txBox="1"/>
          <p:nvPr/>
        </p:nvSpPr>
        <p:spPr>
          <a:xfrm>
            <a:off x="6217920" y="23591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Cisco IOS</a:t>
            </a:r>
            <a:r>
              <a:rPr sz="1150" b="0" i="0" u="none">
                <a:solidFill>
                  <a:srgbClr val="64748B"/>
                </a:solidFill>
                <a:latin typeface="Calibri"/>
              </a:rPr>
              <a:t>  Common Security Model (live app)</a:t>
            </a:r>
          </a:p>
        </p:txBody>
      </p:sp>
      <p:pic>
        <p:nvPicPr>
          <p:cNvPr id="17436" name="Screenshot: Cisco Common Security Model" descr="Screenshot: Cisco Common Security Mod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615184"/>
            <a:ext cx="5486400" cy="16002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7437" name="Caption Juniper"/>
          <p:cNvSpPr txBox="1"/>
          <p:nvPr/>
        </p:nvSpPr>
        <p:spPr>
          <a:xfrm>
            <a:off x="6217920" y="4306823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Juniper Junos (curly-brace)</a:t>
            </a:r>
            <a:r>
              <a:rPr sz="1150" b="0" i="0" u="none">
                <a:solidFill>
                  <a:srgbClr val="64748B"/>
                </a:solidFill>
                <a:latin typeface="Calibri"/>
              </a:rPr>
              <a:t>  Common Security Model (live app)</a:t>
            </a:r>
          </a:p>
        </p:txBody>
      </p:sp>
      <p:pic>
        <p:nvPicPr>
          <p:cNvPr id="17438" name="Screenshot: Juniper Common Security Model" descr="Screenshot: Juniper Common Security Mod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562855"/>
            <a:ext cx="5486400" cy="1621421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/>
              <a:t>Ansarash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Legend"/>
          <p:cNvSpPr txBox="1"/>
          <p:nvPr/>
        </p:nvSpPr>
        <p:spPr>
          <a:xfrm>
            <a:off x="365760" y="635508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 u="none">
                <a:solidFill>
                  <a:srgbClr val="A7F3D0"/>
                </a:solidFill>
                <a:latin typeface="Calibri"/>
              </a:rPr>
              <a:t>✓ </a:t>
            </a:r>
            <a:r>
              <a:rPr sz="1100" b="0" i="0" u="none">
                <a:solidFill>
                  <a:srgbClr val="FFFFFF"/>
                </a:solidFill>
                <a:latin typeface="Calibri"/>
              </a:rPr>
              <a:t>Implemented (live today)     </a:t>
            </a:r>
            <a:r>
              <a:rPr sz="1100" b="1" i="0" u="none">
                <a:solidFill>
                  <a:srgbClr val="FCD34D"/>
                </a:solidFill>
                <a:latin typeface="Calibri"/>
              </a:rPr>
              <a:t>◇ </a:t>
            </a:r>
            <a:r>
              <a:rPr sz="1100" b="0" i="0" u="none">
                <a:solidFill>
                  <a:srgbClr val="FFFFFF"/>
                </a:solidFill>
                <a:latin typeface="Calibri"/>
              </a:rPr>
              <a:t>Planned (roadmap)</a:t>
            </a:r>
          </a:p>
        </p:txBody>
      </p:sp>
      <p:sp>
        <p:nvSpPr>
          <p:cNvPr id="17411" name="01 heading"/>
          <p:cNvSpPr txBox="1"/>
          <p:nvPr/>
        </p:nvSpPr>
        <p:spPr>
          <a:xfrm>
            <a:off x="457200" y="11887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 u="none">
                <a:solidFill>
                  <a:srgbClr val="0D9488"/>
                </a:solidFill>
                <a:latin typeface="Calibri"/>
              </a:rPr>
              <a:t>01  Technically feasible: prototype status</a:t>
            </a:r>
          </a:p>
        </p:txBody>
      </p:sp>
      <p:graphicFrame>
        <p:nvGraphicFramePr>
          <p:cNvPr id="17412" name="Prototype status table"/>
          <p:cNvGraphicFramePr>
            <a:graphicFrameLocks noGrp="1"/>
          </p:cNvGraphicFramePr>
          <p:nvPr/>
        </p:nvGraphicFramePr>
        <p:xfrm>
          <a:off x="457200" y="1517904"/>
          <a:ext cx="4206240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288036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1F2937"/>
                          </a:solidFill>
                          <a:latin typeface="Calibri"/>
                        </a:rPr>
                        <a:t>Vendors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alibri"/>
                        </a:rPr>
                        <a:t>3: Cisco IOS, Juniper Junos (set + curly-brace), Fortinet FortiOS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1F2937"/>
                          </a:solidFill>
                          <a:latin typeface="Calibri"/>
                        </a:rPr>
                        <a:t>Controls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1F2937"/>
                          </a:solidFill>
                          <a:latin typeface="Calibri"/>
                        </a:rPr>
                        <a:t>Test configs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alibri"/>
                        </a:rPr>
                        <a:t>7 (6 valid, 1 invalid)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1F2937"/>
                          </a:solidFill>
                          <a:latin typeface="Calibri"/>
                        </a:rPr>
                        <a:t>Weak Cisco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alibri"/>
                        </a:rPr>
                        <a:t>10/100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1F2937"/>
                          </a:solidFill>
                          <a:latin typeface="Calibri"/>
                        </a:rPr>
                        <a:t>After fixing SSH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alibri"/>
                        </a:rPr>
                        <a:t>30/100 (+20)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1F2937"/>
                          </a:solidFill>
                          <a:latin typeface="Calibri"/>
                        </a:rPr>
                        <a:t>Hardened Cisco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alibri"/>
                        </a:rPr>
                        <a:t>100/100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1" i="0" u="none">
                          <a:solidFill>
                            <a:srgbClr val="1F2937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u="none">
                          <a:solidFill>
                            <a:srgbClr val="1F2937"/>
                          </a:solidFill>
                          <a:latin typeface="Calibri"/>
                        </a:rPr>
                        <a:t>Live on Streamlit Cloud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413" name="Screenshot: score jump" descr="Screenshot: score jum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41648"/>
            <a:ext cx="4206240" cy="638131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7414" name="Caption jump"/>
          <p:cNvSpPr txBox="1"/>
          <p:nvPr/>
        </p:nvSpPr>
        <p:spPr>
          <a:xfrm>
            <a:off x="457200" y="4707211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1" u="none">
                <a:solidFill>
                  <a:srgbClr val="64748B"/>
                </a:solidFill>
                <a:latin typeface="Calibri"/>
              </a:rPr>
              <a:t>Live app: score after changing SSH to v2</a:t>
            </a:r>
          </a:p>
        </p:txBody>
      </p:sp>
      <p:pic>
        <p:nvPicPr>
          <p:cNvPr id="17415" name="Screenshot: AG-04 finding" descr="Screenshot: AG-04 find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54099"/>
            <a:ext cx="4206240" cy="868427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7416" name="Caption AG-04"/>
          <p:cNvSpPr txBox="1"/>
          <p:nvPr/>
        </p:nvSpPr>
        <p:spPr>
          <a:xfrm>
            <a:off x="457200" y="5849959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1" u="none">
                <a:solidFill>
                  <a:srgbClr val="64748B"/>
                </a:solidFill>
                <a:latin typeface="Calibri"/>
              </a:rPr>
              <a:t>Finding AG-04: evidence, NIST and CERT-In reference</a:t>
            </a:r>
          </a:p>
        </p:txBody>
      </p:sp>
      <p:sp>
        <p:nvSpPr>
          <p:cNvPr id="17417" name="02 heading"/>
          <p:cNvSpPr txBox="1"/>
          <p:nvPr/>
        </p:nvSpPr>
        <p:spPr>
          <a:xfrm>
            <a:off x="4937760" y="11887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 u="none">
                <a:solidFill>
                  <a:srgbClr val="B45309"/>
                </a:solidFill>
                <a:latin typeface="Calibri"/>
              </a:rPr>
              <a:t>02  Challenges and mitigation</a:t>
            </a:r>
          </a:p>
        </p:txBody>
      </p:sp>
      <p:sp>
        <p:nvSpPr>
          <p:cNvPr id="17418" name="Challenges card"/>
          <p:cNvSpPr/>
          <p:nvPr/>
        </p:nvSpPr>
        <p:spPr>
          <a:xfrm>
            <a:off x="4937760" y="1517904"/>
            <a:ext cx="3840480" cy="4745736"/>
          </a:xfrm>
          <a:prstGeom prst="roundRect">
            <a:avLst>
              <a:gd name="adj" fmla="val 1666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9" name="Challenges list"/>
          <p:cNvSpPr txBox="1"/>
          <p:nvPr/>
        </p:nvSpPr>
        <p:spPr>
          <a:xfrm>
            <a:off x="5074920" y="1627632"/>
            <a:ext cx="35661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5448" indent="-155448">
              <a:spcAft>
                <a:spcPts val="800"/>
              </a:spcAft>
              <a:buFont typeface="Arial"/>
              <a:buChar char="•"/>
            </a:pPr>
            <a:r>
              <a:rPr sz="1300" b="1" i="0" u="none">
                <a:solidFill>
                  <a:srgbClr val="1F3864"/>
                </a:solidFill>
                <a:latin typeface="Calibri"/>
              </a:rPr>
              <a:t>Different syntax per vendor: </a:t>
            </a:r>
            <a:r>
              <a:rPr sz="1300" b="0" i="0" u="none">
                <a:solidFill>
                  <a:srgbClr val="1F2937"/>
                </a:solidFill>
                <a:latin typeface="Calibri"/>
              </a:rPr>
              <a:t>a separate adapter per vendor, one shared model</a:t>
            </a:r>
          </a:p>
          <a:p>
            <a:pPr algn="l" marL="155448" indent="-155448">
              <a:spcAft>
                <a:spcPts val="800"/>
              </a:spcAft>
              <a:buFont typeface="Arial"/>
              <a:buChar char="•"/>
            </a:pPr>
            <a:r>
              <a:rPr sz="1300" b="1" i="0" u="none">
                <a:solidFill>
                  <a:srgbClr val="1F3864"/>
                </a:solidFill>
                <a:latin typeface="Calibri"/>
              </a:rPr>
              <a:t>Version variations: </a:t>
            </a:r>
            <a:r>
              <a:rPr sz="1300" b="0" i="0" u="none">
                <a:solidFill>
                  <a:srgbClr val="1F2937"/>
                </a:solidFill>
                <a:latin typeface="Calibri"/>
              </a:rPr>
              <a:t>modular adapters; regression tests per version are planned</a:t>
            </a:r>
          </a:p>
          <a:p>
            <a:pPr algn="l" marL="155448" indent="-155448">
              <a:spcAft>
                <a:spcPts val="800"/>
              </a:spcAft>
              <a:buFont typeface="Arial"/>
              <a:buChar char="•"/>
            </a:pPr>
            <a:r>
              <a:rPr sz="1300" b="1" i="0" u="none">
                <a:solidFill>
                  <a:srgbClr val="1F3864"/>
                </a:solidFill>
                <a:latin typeface="Calibri"/>
              </a:rPr>
              <a:t>Incorrect AI mapping (planned): </a:t>
            </a:r>
            <a:r>
              <a:rPr sz="1300" b="0" i="0" u="none">
                <a:solidFill>
                  <a:srgbClr val="1F2937"/>
                </a:solidFill>
                <a:latin typeface="Calibri"/>
              </a:rPr>
              <a:t>confidence score, human review flag, AI never decides the verdict</a:t>
            </a:r>
          </a:p>
          <a:p>
            <a:pPr algn="l" marL="155448" indent="-155448">
              <a:spcAft>
                <a:spcPts val="800"/>
              </a:spcAft>
              <a:buFont typeface="Arial"/>
              <a:buChar char="•"/>
            </a:pPr>
            <a:r>
              <a:rPr sz="1300" b="1" i="0" u="none">
                <a:solidFill>
                  <a:srgbClr val="1F3864"/>
                </a:solidFill>
                <a:latin typeface="Calibri"/>
              </a:rPr>
              <a:t>Config can't prove a setting: </a:t>
            </a:r>
            <a:r>
              <a:rPr sz="1300" b="0" i="0" u="none">
                <a:solidFill>
                  <a:srgbClr val="1F2937"/>
                </a:solidFill>
                <a:latin typeface="Calibri"/>
              </a:rPr>
              <a:t>shown as “Needs Review”, not scored</a:t>
            </a:r>
          </a:p>
          <a:p>
            <a:pPr algn="l" marL="155448" indent="-155448">
              <a:buFont typeface="Arial"/>
              <a:buChar char="•"/>
            </a:pPr>
            <a:r>
              <a:rPr sz="1300" b="1" i="0" u="none">
                <a:solidFill>
                  <a:srgbClr val="1F3864"/>
                </a:solidFill>
                <a:latin typeface="Calibri"/>
              </a:rPr>
              <a:t>Remediation risk: </a:t>
            </a:r>
            <a:r>
              <a:rPr sz="1300" b="0" i="0" u="none">
                <a:solidFill>
                  <a:srgbClr val="1F2937"/>
                </a:solidFill>
                <a:latin typeface="Calibri"/>
              </a:rPr>
              <a:t>every fix ships with a rollback; administrators review before applying</a:t>
            </a:r>
          </a:p>
        </p:txBody>
      </p:sp>
      <p:sp>
        <p:nvSpPr>
          <p:cNvPr id="17420" name="Guardrails card"/>
          <p:cNvSpPr/>
          <p:nvPr/>
        </p:nvSpPr>
        <p:spPr>
          <a:xfrm>
            <a:off x="5047488" y="4572000"/>
            <a:ext cx="3621024" cy="160020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1" name="Guardrails label"/>
          <p:cNvSpPr txBox="1"/>
          <p:nvPr/>
        </p:nvSpPr>
        <p:spPr>
          <a:xfrm>
            <a:off x="5157216" y="4626864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 u="none">
                <a:solidFill>
                  <a:srgbClr val="B45309"/>
                </a:solidFill>
                <a:latin typeface="Calibri"/>
              </a:rPr>
              <a:t>◇ AI guardrails (planned)</a:t>
            </a:r>
          </a:p>
        </p:txBody>
      </p:sp>
      <p:sp>
        <p:nvSpPr>
          <p:cNvPr id="17422" name="Guardrail step 1"/>
          <p:cNvSpPr/>
          <p:nvPr/>
        </p:nvSpPr>
        <p:spPr>
          <a:xfrm>
            <a:off x="5157216" y="4919472"/>
            <a:ext cx="3401568" cy="265176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23" name="Guardrail step 1 text"/>
          <p:cNvSpPr txBox="1"/>
          <p:nvPr/>
        </p:nvSpPr>
        <p:spPr>
          <a:xfrm>
            <a:off x="5248656" y="4919472"/>
            <a:ext cx="3246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1" i="0" u="none">
                <a:solidFill>
                  <a:srgbClr val="B45309"/>
                </a:solidFill>
                <a:latin typeface="Calibri"/>
              </a:rPr>
              <a:t>1  </a:t>
            </a:r>
            <a:r>
              <a:rPr sz="1050" b="1" i="0" u="none">
                <a:solidFill>
                  <a:srgbClr val="1F3864"/>
                </a:solidFill>
                <a:latin typeface="Calibri"/>
              </a:rPr>
              <a:t>Secrets redacted before any AI step</a:t>
            </a:r>
          </a:p>
        </p:txBody>
      </p:sp>
      <p:sp>
        <p:nvSpPr>
          <p:cNvPr id="17424" name="Guardrail step 2"/>
          <p:cNvSpPr/>
          <p:nvPr/>
        </p:nvSpPr>
        <p:spPr>
          <a:xfrm>
            <a:off x="5157216" y="5230368"/>
            <a:ext cx="3401568" cy="265176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25" name="Guardrail step 2 text"/>
          <p:cNvSpPr txBox="1"/>
          <p:nvPr/>
        </p:nvSpPr>
        <p:spPr>
          <a:xfrm>
            <a:off x="5248656" y="5230368"/>
            <a:ext cx="3246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1" i="0" u="none">
                <a:solidFill>
                  <a:srgbClr val="B45309"/>
                </a:solidFill>
                <a:latin typeface="Calibri"/>
              </a:rPr>
              <a:t>2  </a:t>
            </a:r>
            <a:r>
              <a:rPr sz="1050" b="1" i="0" u="none">
                <a:solidFill>
                  <a:srgbClr val="1F3864"/>
                </a:solidFill>
                <a:latin typeface="Calibri"/>
              </a:rPr>
              <a:t>AI maps unknown lines, with a confidence score</a:t>
            </a:r>
          </a:p>
        </p:txBody>
      </p:sp>
      <p:sp>
        <p:nvSpPr>
          <p:cNvPr id="17426" name="Guardrail step 3"/>
          <p:cNvSpPr/>
          <p:nvPr/>
        </p:nvSpPr>
        <p:spPr>
          <a:xfrm>
            <a:off x="5157216" y="5541264"/>
            <a:ext cx="3401568" cy="265176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27" name="Guardrail step 3 text"/>
          <p:cNvSpPr txBox="1"/>
          <p:nvPr/>
        </p:nvSpPr>
        <p:spPr>
          <a:xfrm>
            <a:off x="5248656" y="5541264"/>
            <a:ext cx="3246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1" i="0" u="none">
                <a:solidFill>
                  <a:srgbClr val="B45309"/>
                </a:solidFill>
                <a:latin typeface="Calibri"/>
              </a:rPr>
              <a:t>3  </a:t>
            </a:r>
            <a:r>
              <a:rPr sz="1050" b="1" i="0" u="none">
                <a:solidFill>
                  <a:srgbClr val="1F3864"/>
                </a:solidFill>
                <a:latin typeface="Calibri"/>
              </a:rPr>
              <a:t>Low confidence flagged for human review</a:t>
            </a:r>
          </a:p>
        </p:txBody>
      </p:sp>
      <p:sp>
        <p:nvSpPr>
          <p:cNvPr id="17428" name="Guardrail step 4"/>
          <p:cNvSpPr/>
          <p:nvPr/>
        </p:nvSpPr>
        <p:spPr>
          <a:xfrm>
            <a:off x="5157216" y="5852160"/>
            <a:ext cx="3401568" cy="265176"/>
          </a:xfrm>
          <a:prstGeom prst="roundRect">
            <a:avLst>
              <a:gd name="adj" fmla="val 20689"/>
            </a:avLst>
          </a:prstGeom>
          <a:solidFill>
            <a:srgbClr val="0D9488"/>
          </a:solidFill>
          <a:ln w="9525">
            <a:solidFill>
              <a:srgbClr val="0D948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29" name="Guardrail step 4 text"/>
          <p:cNvSpPr txBox="1"/>
          <p:nvPr/>
        </p:nvSpPr>
        <p:spPr>
          <a:xfrm>
            <a:off x="5248656" y="5852160"/>
            <a:ext cx="3246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1" i="0" u="none">
                <a:solidFill>
                  <a:srgbClr val="FFFFFF"/>
                </a:solidFill>
                <a:latin typeface="Calibri"/>
              </a:rPr>
              <a:t>4  </a:t>
            </a:r>
            <a:r>
              <a:rPr sz="1050" b="1" i="0" u="none">
                <a:solidFill>
                  <a:srgbClr val="FFFFFF"/>
                </a:solidFill>
                <a:latin typeface="Calibri"/>
              </a:rPr>
              <a:t>Rule engine makes the verdict</a:t>
            </a:r>
          </a:p>
        </p:txBody>
      </p:sp>
      <p:sp>
        <p:nvSpPr>
          <p:cNvPr id="17430" name="03 heading"/>
          <p:cNvSpPr txBox="1"/>
          <p:nvPr/>
        </p:nvSpPr>
        <p:spPr>
          <a:xfrm>
            <a:off x="9006840" y="1188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 u="none">
                <a:solidFill>
                  <a:srgbClr val="B45309"/>
                </a:solidFill>
                <a:latin typeface="Calibri"/>
              </a:rPr>
              <a:t>03  Scalability roadmap</a:t>
            </a:r>
          </a:p>
        </p:txBody>
      </p:sp>
      <p:sp>
        <p:nvSpPr>
          <p:cNvPr id="17431" name="Roadmap card"/>
          <p:cNvSpPr/>
          <p:nvPr/>
        </p:nvSpPr>
        <p:spPr>
          <a:xfrm>
            <a:off x="9006840" y="1517904"/>
            <a:ext cx="2724912" cy="4745736"/>
          </a:xfrm>
          <a:prstGeom prst="roundRect">
            <a:avLst>
              <a:gd name="adj" fmla="val 2348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2" name="Roadmap tag"/>
          <p:cNvSpPr txBox="1"/>
          <p:nvPr/>
        </p:nvSpPr>
        <p:spPr>
          <a:xfrm>
            <a:off x="9144000" y="16276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 u="none">
                <a:solidFill>
                  <a:srgbClr val="B45309"/>
                </a:solidFill>
                <a:latin typeface="Calibri"/>
              </a:rPr>
              <a:t>◇ Planned</a:t>
            </a:r>
          </a:p>
        </p:txBody>
      </p:sp>
      <p:sp>
        <p:nvSpPr>
          <p:cNvPr id="17433" name="Roadmap list"/>
          <p:cNvSpPr txBox="1"/>
          <p:nvPr/>
        </p:nvSpPr>
        <p:spPr>
          <a:xfrm>
            <a:off x="9144000" y="1965960"/>
            <a:ext cx="24688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5448" indent="-155448">
              <a:spcAft>
                <a:spcPts val="1200"/>
              </a:spcAft>
              <a:buFont typeface="Arial"/>
              <a:buChar char="•"/>
            </a:pPr>
            <a:r>
              <a:rPr sz="1300" b="0" i="0" u="none">
                <a:solidFill>
                  <a:srgbClr val="1F2937"/>
                </a:solidFill>
                <a:latin typeface="Calibri"/>
              </a:rPr>
              <a:t>Palo Alto PAN-OS adapter</a:t>
            </a:r>
          </a:p>
          <a:p>
            <a:pPr algn="l" marL="155448" indent="-155448">
              <a:spcAft>
                <a:spcPts val="1200"/>
              </a:spcAft>
              <a:buFont typeface="Arial"/>
              <a:buChar char="•"/>
            </a:pPr>
            <a:r>
              <a:rPr sz="1300" b="0" i="0" u="none">
                <a:solidFill>
                  <a:srgbClr val="1F2937"/>
                </a:solidFill>
                <a:latin typeface="Calibri"/>
              </a:rPr>
              <a:t>Firewall rule-base analysis (any-any, shadowed, redundant rules)</a:t>
            </a:r>
          </a:p>
          <a:p>
            <a:pPr algn="l" marL="155448" indent="-155448">
              <a:spcAft>
                <a:spcPts val="1200"/>
              </a:spcAft>
              <a:buFont typeface="Arial"/>
              <a:buChar char="•"/>
            </a:pPr>
            <a:r>
              <a:rPr sz="1300" b="0" i="0" u="none">
                <a:solidFill>
                  <a:srgbClr val="1F2937"/>
                </a:solidFill>
                <a:latin typeface="Calibri"/>
              </a:rPr>
              <a:t>CIS Benchmark mapping, plus NCIIPC and RBI</a:t>
            </a:r>
          </a:p>
          <a:p>
            <a:pPr algn="l" marL="155448" indent="-155448">
              <a:spcAft>
                <a:spcPts val="1200"/>
              </a:spcAft>
              <a:buFont typeface="Arial"/>
              <a:buChar char="•"/>
            </a:pPr>
            <a:r>
              <a:rPr sz="1300" b="0" i="0" u="none">
                <a:solidFill>
                  <a:srgbClr val="1F2937"/>
                </a:solidFill>
                <a:latin typeface="Calibri"/>
              </a:rPr>
              <a:t>Config drift tracking with a fleet-wide score</a:t>
            </a:r>
          </a:p>
          <a:p>
            <a:pPr algn="l" marL="155448" indent="-155448">
              <a:buFont typeface="Arial"/>
              <a:buChar char="•"/>
            </a:pPr>
            <a:r>
              <a:rPr sz="1300" b="0" i="0" u="none">
                <a:solidFill>
                  <a:srgbClr val="1F2937"/>
                </a:solidFill>
                <a:latin typeface="Calibri"/>
              </a:rPr>
              <a:t>PDF and SARIF reports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/>
              <a:t>Ansarash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Legend"/>
          <p:cNvSpPr txBox="1"/>
          <p:nvPr/>
        </p:nvSpPr>
        <p:spPr>
          <a:xfrm>
            <a:off x="365760" y="635508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 u="none">
                <a:solidFill>
                  <a:srgbClr val="A7F3D0"/>
                </a:solidFill>
                <a:latin typeface="Calibri"/>
              </a:rPr>
              <a:t>✓ </a:t>
            </a:r>
            <a:r>
              <a:rPr sz="1100" b="0" i="0" u="none">
                <a:solidFill>
                  <a:srgbClr val="FFFFFF"/>
                </a:solidFill>
                <a:latin typeface="Calibri"/>
              </a:rPr>
              <a:t>Implemented (live today)     </a:t>
            </a:r>
            <a:r>
              <a:rPr sz="1100" b="1" i="0" u="none">
                <a:solidFill>
                  <a:srgbClr val="FCD34D"/>
                </a:solidFill>
                <a:latin typeface="Calibri"/>
              </a:rPr>
              <a:t>◇ </a:t>
            </a:r>
            <a:r>
              <a:rPr sz="1100" b="0" i="0" u="none">
                <a:solidFill>
                  <a:srgbClr val="FFFFFF"/>
                </a:solidFill>
                <a:latin typeface="Calibri"/>
              </a:rPr>
              <a:t>Planned (roadmap)</a:t>
            </a:r>
          </a:p>
        </p:txBody>
      </p:sp>
      <p:sp>
        <p:nvSpPr>
          <p:cNvPr id="17411" name="Users label"/>
          <p:cNvSpPr txBox="1"/>
          <p:nvPr/>
        </p:nvSpPr>
        <p:spPr>
          <a:xfrm>
            <a:off x="457200" y="12070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 u="none">
                <a:solidFill>
                  <a:srgbClr val="64748B"/>
                </a:solidFill>
                <a:latin typeface="Calibri"/>
              </a:rPr>
              <a:t>TARGET USERS</a:t>
            </a:r>
          </a:p>
        </p:txBody>
      </p:sp>
      <p:sp>
        <p:nvSpPr>
          <p:cNvPr id="17412" name="User chip 1"/>
          <p:cNvSpPr/>
          <p:nvPr/>
        </p:nvSpPr>
        <p:spPr>
          <a:xfrm>
            <a:off x="457200" y="151790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3" name="User chip 1 text"/>
          <p:cNvSpPr txBox="1"/>
          <p:nvPr/>
        </p:nvSpPr>
        <p:spPr>
          <a:xfrm>
            <a:off x="457200" y="151790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50" b="1" i="0" u="none">
                <a:solidFill>
                  <a:srgbClr val="FFFFFF"/>
                </a:solidFill>
                <a:latin typeface="Calibri"/>
              </a:rPr>
              <a:t>Network administrators</a:t>
            </a:r>
          </a:p>
        </p:txBody>
      </p:sp>
      <p:sp>
        <p:nvSpPr>
          <p:cNvPr id="17414" name="User chip 2"/>
          <p:cNvSpPr/>
          <p:nvPr/>
        </p:nvSpPr>
        <p:spPr>
          <a:xfrm>
            <a:off x="2651760" y="1517904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5" name="User chip 2 text"/>
          <p:cNvSpPr txBox="1"/>
          <p:nvPr/>
        </p:nvSpPr>
        <p:spPr>
          <a:xfrm>
            <a:off x="2651760" y="151790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50" b="1" i="0" u="none">
                <a:solidFill>
                  <a:srgbClr val="FFFFFF"/>
                </a:solidFill>
                <a:latin typeface="Calibri"/>
              </a:rPr>
              <a:t>Cybersecurity teams</a:t>
            </a:r>
          </a:p>
        </p:txBody>
      </p:sp>
      <p:sp>
        <p:nvSpPr>
          <p:cNvPr id="17416" name="User chip 3"/>
          <p:cNvSpPr/>
          <p:nvPr/>
        </p:nvSpPr>
        <p:spPr>
          <a:xfrm>
            <a:off x="4663440" y="1517904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7" name="User chip 3 text"/>
          <p:cNvSpPr txBox="1"/>
          <p:nvPr/>
        </p:nvSpPr>
        <p:spPr>
          <a:xfrm>
            <a:off x="4663440" y="1517904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50" b="1" i="0" u="none">
                <a:solidFill>
                  <a:srgbClr val="FFFFFF"/>
                </a:solidFill>
                <a:latin typeface="Calibri"/>
              </a:rPr>
              <a:t>MSPs</a:t>
            </a:r>
          </a:p>
        </p:txBody>
      </p:sp>
      <p:sp>
        <p:nvSpPr>
          <p:cNvPr id="17418" name="User chip 4"/>
          <p:cNvSpPr/>
          <p:nvPr/>
        </p:nvSpPr>
        <p:spPr>
          <a:xfrm>
            <a:off x="5669279" y="1517904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9" name="User chip 4 text"/>
          <p:cNvSpPr txBox="1"/>
          <p:nvPr/>
        </p:nvSpPr>
        <p:spPr>
          <a:xfrm>
            <a:off x="5669279" y="1517904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50" b="1" i="0" u="none">
                <a:solidFill>
                  <a:srgbClr val="FFFFFF"/>
                </a:solidFill>
                <a:latin typeface="Calibri"/>
              </a:rPr>
              <a:t>Government and institutional networks</a:t>
            </a:r>
          </a:p>
        </p:txBody>
      </p:sp>
      <p:sp>
        <p:nvSpPr>
          <p:cNvPr id="17420" name="User chip 5"/>
          <p:cNvSpPr/>
          <p:nvPr/>
        </p:nvSpPr>
        <p:spPr>
          <a:xfrm>
            <a:off x="9052559" y="1517904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1" name="User chip 5 text"/>
          <p:cNvSpPr txBox="1"/>
          <p:nvPr/>
        </p:nvSpPr>
        <p:spPr>
          <a:xfrm>
            <a:off x="9052559" y="1517904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250" b="1" i="0" u="none">
                <a:solidFill>
                  <a:srgbClr val="FFFFFF"/>
                </a:solidFill>
                <a:latin typeface="Calibri"/>
              </a:rPr>
              <a:t>Critical infrastructure operators</a:t>
            </a:r>
          </a:p>
        </p:txBody>
      </p:sp>
      <p:sp>
        <p:nvSpPr>
          <p:cNvPr id="17422" name="Security card"/>
          <p:cNvSpPr/>
          <p:nvPr/>
        </p:nvSpPr>
        <p:spPr>
          <a:xfrm>
            <a:off x="457200" y="2057400"/>
            <a:ext cx="3657600" cy="1627632"/>
          </a:xfrm>
          <a:prstGeom prst="roundRect">
            <a:avLst>
              <a:gd name="adj" fmla="val 3932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3" name="Security icon circle"/>
          <p:cNvSpPr/>
          <p:nvPr/>
        </p:nvSpPr>
        <p:spPr>
          <a:xfrm>
            <a:off x="603504" y="2185416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4" name="Security icon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304288"/>
            <a:ext cx="201168" cy="201168"/>
          </a:xfrm>
          <a:prstGeom prst="rect">
            <a:avLst/>
          </a:prstGeom>
        </p:spPr>
      </p:pic>
      <p:sp>
        <p:nvSpPr>
          <p:cNvPr id="17425" name="Security title"/>
          <p:cNvSpPr txBox="1"/>
          <p:nvPr/>
        </p:nvSpPr>
        <p:spPr>
          <a:xfrm>
            <a:off x="1170432" y="2185416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 u="none">
                <a:solidFill>
                  <a:srgbClr val="1F3864"/>
                </a:solidFill>
                <a:latin typeface="Calibri"/>
              </a:rPr>
              <a:t>Security</a:t>
            </a:r>
          </a:p>
        </p:txBody>
      </p:sp>
      <p:sp>
        <p:nvSpPr>
          <p:cNvPr id="17426" name="Security text"/>
          <p:cNvSpPr txBox="1"/>
          <p:nvPr/>
        </p:nvSpPr>
        <p:spPr>
          <a:xfrm>
            <a:off x="603504" y="2715768"/>
            <a:ext cx="336499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0" i="0" u="none">
                <a:solidFill>
                  <a:srgbClr val="1F2937"/>
                </a:solidFill>
                <a:latin typeface="Calibri"/>
              </a:rPr>
              <a:t>Finds misconfigurations such as plaintext secrets, default SNMP communities, Telnet and HTTP management</a:t>
            </a:r>
          </a:p>
        </p:txBody>
      </p:sp>
      <p:sp>
        <p:nvSpPr>
          <p:cNvPr id="17427" name="Efficiency card"/>
          <p:cNvSpPr/>
          <p:nvPr/>
        </p:nvSpPr>
        <p:spPr>
          <a:xfrm>
            <a:off x="4261104" y="2057400"/>
            <a:ext cx="3657600" cy="1627632"/>
          </a:xfrm>
          <a:prstGeom prst="roundRect">
            <a:avLst>
              <a:gd name="adj" fmla="val 3932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8" name="Efficiency icon circle"/>
          <p:cNvSpPr/>
          <p:nvPr/>
        </p:nvSpPr>
        <p:spPr>
          <a:xfrm>
            <a:off x="4407408" y="2185416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9" name="Efficiency icon" descr="icon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304288"/>
            <a:ext cx="201168" cy="201168"/>
          </a:xfrm>
          <a:prstGeom prst="rect">
            <a:avLst/>
          </a:prstGeom>
        </p:spPr>
      </p:pic>
      <p:sp>
        <p:nvSpPr>
          <p:cNvPr id="17430" name="Efficiency title"/>
          <p:cNvSpPr txBox="1"/>
          <p:nvPr/>
        </p:nvSpPr>
        <p:spPr>
          <a:xfrm>
            <a:off x="4974336" y="2185416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 u="none">
                <a:solidFill>
                  <a:srgbClr val="1F3864"/>
                </a:solidFill>
                <a:latin typeface="Calibri"/>
              </a:rPr>
              <a:t>Efficiency</a:t>
            </a:r>
          </a:p>
        </p:txBody>
      </p:sp>
      <p:sp>
        <p:nvSpPr>
          <p:cNvPr id="17431" name="Efficiency text"/>
          <p:cNvSpPr txBox="1"/>
          <p:nvPr/>
        </p:nvSpPr>
        <p:spPr>
          <a:xfrm>
            <a:off x="4407408" y="2715768"/>
            <a:ext cx="336499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0" i="0" u="none">
                <a:solidFill>
                  <a:srgbClr val="1F2937"/>
                </a:solidFill>
                <a:latin typeface="Calibri"/>
              </a:rPr>
              <a:t>One interface and one audit for multiple vendors; results appear instantly on the test configs</a:t>
            </a:r>
          </a:p>
        </p:txBody>
      </p:sp>
      <p:sp>
        <p:nvSpPr>
          <p:cNvPr id="17432" name="Consistency card"/>
          <p:cNvSpPr/>
          <p:nvPr/>
        </p:nvSpPr>
        <p:spPr>
          <a:xfrm>
            <a:off x="8065008" y="2057400"/>
            <a:ext cx="3657600" cy="1627632"/>
          </a:xfrm>
          <a:prstGeom prst="roundRect">
            <a:avLst>
              <a:gd name="adj" fmla="val 3932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3" name="Consistency icon circle"/>
          <p:cNvSpPr/>
          <p:nvPr/>
        </p:nvSpPr>
        <p:spPr>
          <a:xfrm>
            <a:off x="8211312" y="2185416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4" name="Consistency icon" descr="icon_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3" y="2304288"/>
            <a:ext cx="201168" cy="201168"/>
          </a:xfrm>
          <a:prstGeom prst="rect">
            <a:avLst/>
          </a:prstGeom>
        </p:spPr>
      </p:pic>
      <p:sp>
        <p:nvSpPr>
          <p:cNvPr id="17435" name="Consistency title"/>
          <p:cNvSpPr txBox="1"/>
          <p:nvPr/>
        </p:nvSpPr>
        <p:spPr>
          <a:xfrm>
            <a:off x="8778240" y="2185416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 u="none">
                <a:solidFill>
                  <a:srgbClr val="1F3864"/>
                </a:solidFill>
                <a:latin typeface="Calibri"/>
              </a:rPr>
              <a:t>Consistency</a:t>
            </a:r>
          </a:p>
        </p:txBody>
      </p:sp>
      <p:sp>
        <p:nvSpPr>
          <p:cNvPr id="17436" name="Consistency text"/>
          <p:cNvSpPr txBox="1"/>
          <p:nvPr/>
        </p:nvSpPr>
        <p:spPr>
          <a:xfrm>
            <a:off x="8211312" y="2715768"/>
            <a:ext cx="336499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0" i="0" u="none">
                <a:solidFill>
                  <a:srgbClr val="1F2937"/>
                </a:solidFill>
                <a:latin typeface="Calibri"/>
              </a:rPr>
              <a:t>The same control and the same score logic for every vendor</a:t>
            </a:r>
          </a:p>
        </p:txBody>
      </p:sp>
      <p:sp>
        <p:nvSpPr>
          <p:cNvPr id="17437" name="Explainability card"/>
          <p:cNvSpPr/>
          <p:nvPr/>
        </p:nvSpPr>
        <p:spPr>
          <a:xfrm>
            <a:off x="457200" y="3794760"/>
            <a:ext cx="3657600" cy="1627632"/>
          </a:xfrm>
          <a:prstGeom prst="roundRect">
            <a:avLst>
              <a:gd name="adj" fmla="val 3932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8" name="Explainability icon circle"/>
          <p:cNvSpPr/>
          <p:nvPr/>
        </p:nvSpPr>
        <p:spPr>
          <a:xfrm>
            <a:off x="603504" y="3922776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9" name="Explainability icon" descr="icon_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4041648"/>
            <a:ext cx="201168" cy="201168"/>
          </a:xfrm>
          <a:prstGeom prst="rect">
            <a:avLst/>
          </a:prstGeom>
        </p:spPr>
      </p:pic>
      <p:sp>
        <p:nvSpPr>
          <p:cNvPr id="17440" name="Explainability title"/>
          <p:cNvSpPr txBox="1"/>
          <p:nvPr/>
        </p:nvSpPr>
        <p:spPr>
          <a:xfrm>
            <a:off x="1170432" y="3922776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 u="none">
                <a:solidFill>
                  <a:srgbClr val="1F3864"/>
                </a:solidFill>
                <a:latin typeface="Calibri"/>
              </a:rPr>
              <a:t>Explainability</a:t>
            </a:r>
          </a:p>
        </p:txBody>
      </p:sp>
      <p:sp>
        <p:nvSpPr>
          <p:cNvPr id="17441" name="Explainability text"/>
          <p:cNvSpPr txBox="1"/>
          <p:nvPr/>
        </p:nvSpPr>
        <p:spPr>
          <a:xfrm>
            <a:off x="603504" y="4453128"/>
            <a:ext cx="336499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0" i="0" u="none">
                <a:solidFill>
                  <a:srgbClr val="1F2937"/>
                </a:solidFill>
                <a:latin typeface="Calibri"/>
              </a:rPr>
              <a:t>Every finding shows its evidence line, framework reference, fix and rollback</a:t>
            </a:r>
          </a:p>
        </p:txBody>
      </p:sp>
      <p:sp>
        <p:nvSpPr>
          <p:cNvPr id="17442" name="Privacy card"/>
          <p:cNvSpPr/>
          <p:nvPr/>
        </p:nvSpPr>
        <p:spPr>
          <a:xfrm>
            <a:off x="4261104" y="3794760"/>
            <a:ext cx="3657600" cy="1627632"/>
          </a:xfrm>
          <a:prstGeom prst="roundRect">
            <a:avLst>
              <a:gd name="adj" fmla="val 3932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3" name="Privacy icon circle"/>
          <p:cNvSpPr/>
          <p:nvPr/>
        </p:nvSpPr>
        <p:spPr>
          <a:xfrm>
            <a:off x="4407408" y="3922776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4" name="Privacy icon" descr="icon_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4041648"/>
            <a:ext cx="201168" cy="201168"/>
          </a:xfrm>
          <a:prstGeom prst="rect">
            <a:avLst/>
          </a:prstGeom>
        </p:spPr>
      </p:pic>
      <p:sp>
        <p:nvSpPr>
          <p:cNvPr id="17445" name="Privacy title"/>
          <p:cNvSpPr txBox="1"/>
          <p:nvPr/>
        </p:nvSpPr>
        <p:spPr>
          <a:xfrm>
            <a:off x="4974336" y="3922776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 u="none">
                <a:solidFill>
                  <a:srgbClr val="1F3864"/>
                </a:solidFill>
                <a:latin typeface="Calibri"/>
              </a:rPr>
              <a:t>Privacy</a:t>
            </a:r>
          </a:p>
        </p:txBody>
      </p:sp>
      <p:sp>
        <p:nvSpPr>
          <p:cNvPr id="17446" name="Privacy text"/>
          <p:cNvSpPr txBox="1"/>
          <p:nvPr/>
        </p:nvSpPr>
        <p:spPr>
          <a:xfrm>
            <a:off x="4407408" y="4453128"/>
            <a:ext cx="336499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0" i="0" u="none">
                <a:solidFill>
                  <a:srgbClr val="1F2937"/>
                </a:solidFill>
                <a:latin typeface="Calibri"/>
              </a:rPr>
              <a:t>Configs are processed without any device access, and secrets are masked in output</a:t>
            </a:r>
          </a:p>
        </p:txBody>
      </p:sp>
      <p:sp>
        <p:nvSpPr>
          <p:cNvPr id="17447" name="India relevance card"/>
          <p:cNvSpPr/>
          <p:nvPr/>
        </p:nvSpPr>
        <p:spPr>
          <a:xfrm>
            <a:off x="8065008" y="3794760"/>
            <a:ext cx="3657600" cy="1627632"/>
          </a:xfrm>
          <a:prstGeom prst="roundRect">
            <a:avLst>
              <a:gd name="adj" fmla="val 3932"/>
            </a:avLst>
          </a:prstGeom>
          <a:solidFill>
            <a:srgbClr val="E3F4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8" name="India relevance icon circle"/>
          <p:cNvSpPr/>
          <p:nvPr/>
        </p:nvSpPr>
        <p:spPr>
          <a:xfrm>
            <a:off x="8211312" y="3922776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9" name="India relevance icon" descr="icon_fla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0183" y="4041648"/>
            <a:ext cx="201168" cy="201168"/>
          </a:xfrm>
          <a:prstGeom prst="rect">
            <a:avLst/>
          </a:prstGeom>
        </p:spPr>
      </p:pic>
      <p:sp>
        <p:nvSpPr>
          <p:cNvPr id="17450" name="India relevance title"/>
          <p:cNvSpPr txBox="1"/>
          <p:nvPr/>
        </p:nvSpPr>
        <p:spPr>
          <a:xfrm>
            <a:off x="8778240" y="3922776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 u="none">
                <a:solidFill>
                  <a:srgbClr val="1F3864"/>
                </a:solidFill>
                <a:latin typeface="Calibri"/>
              </a:rPr>
              <a:t>India relevance</a:t>
            </a:r>
          </a:p>
        </p:txBody>
      </p:sp>
      <p:sp>
        <p:nvSpPr>
          <p:cNvPr id="17451" name="India relevance text"/>
          <p:cNvSpPr txBox="1"/>
          <p:nvPr/>
        </p:nvSpPr>
        <p:spPr>
          <a:xfrm>
            <a:off x="8211312" y="4453128"/>
            <a:ext cx="336499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0" i="0" u="none">
                <a:solidFill>
                  <a:srgbClr val="1F2937"/>
                </a:solidFill>
                <a:latin typeface="Calibri"/>
              </a:rPr>
              <a:t>Checks aligned to the CERT-In Directions (2022) on log retention and NTP sync, relevant to government bodies, PSUs and MSPs. </a:t>
            </a:r>
            <a:r>
              <a:rPr sz="1400" b="1" i="0" u="none">
                <a:solidFill>
                  <a:srgbClr val="B45309"/>
                </a:solidFill>
                <a:latin typeface="Calibri"/>
              </a:rPr>
              <a:t>◇ </a:t>
            </a:r>
            <a:r>
              <a:rPr sz="1400" b="0" i="0" u="none">
                <a:solidFill>
                  <a:srgbClr val="1F2937"/>
                </a:solidFill>
                <a:latin typeface="Calibri"/>
              </a:rPr>
              <a:t>Planned: NCIIPC and RBI mappings.</a:t>
            </a:r>
          </a:p>
        </p:txBody>
      </p:sp>
      <p:sp>
        <p:nvSpPr>
          <p:cNvPr id="17452" name="Key benefit banner"/>
          <p:cNvSpPr/>
          <p:nvPr/>
        </p:nvSpPr>
        <p:spPr>
          <a:xfrm>
            <a:off x="457200" y="5623560"/>
            <a:ext cx="11274552" cy="548640"/>
          </a:xfrm>
          <a:prstGeom prst="roundRect">
            <a:avLst>
              <a:gd name="adj" fmla="val 16666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3" name="Key benefit text"/>
          <p:cNvSpPr txBox="1"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500" b="1" i="0" u="none">
                <a:solidFill>
                  <a:srgbClr val="A7F3D0"/>
                </a:solidFill>
                <a:latin typeface="Calibri"/>
              </a:rPr>
              <a:t>KEY BENEFIT   </a:t>
            </a:r>
            <a:r>
              <a:rPr sz="1500" b="1" i="0" u="none">
                <a:solidFill>
                  <a:srgbClr val="FFFFFF"/>
                </a:solidFill>
                <a:latin typeface="Calibri"/>
              </a:rPr>
              <a:t>One unified, explainable security assessment across multi-vendor networks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/>
              <a:t>Ansarash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Legend"/>
          <p:cNvSpPr txBox="1"/>
          <p:nvPr/>
        </p:nvSpPr>
        <p:spPr>
          <a:xfrm>
            <a:off x="365760" y="635508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 u="none">
                <a:solidFill>
                  <a:srgbClr val="A7F3D0"/>
                </a:solidFill>
                <a:latin typeface="Calibri"/>
              </a:rPr>
              <a:t>✓ </a:t>
            </a:r>
            <a:r>
              <a:rPr sz="1100" b="0" i="0" u="none">
                <a:solidFill>
                  <a:srgbClr val="FFFFFF"/>
                </a:solidFill>
                <a:latin typeface="Calibri"/>
              </a:rPr>
              <a:t>Implemented (live today)     </a:t>
            </a:r>
            <a:r>
              <a:rPr sz="1100" b="1" i="0" u="none">
                <a:solidFill>
                  <a:srgbClr val="FCD34D"/>
                </a:solidFill>
                <a:latin typeface="Calibri"/>
              </a:rPr>
              <a:t>◇ </a:t>
            </a:r>
            <a:r>
              <a:rPr sz="1100" b="0" i="0" u="none">
                <a:solidFill>
                  <a:srgbClr val="FFFFFF"/>
                </a:solidFill>
                <a:latin typeface="Calibri"/>
              </a:rPr>
              <a:t>Planned (roadmap)</a:t>
            </a:r>
          </a:p>
        </p:txBody>
      </p:sp>
      <p:sp>
        <p:nvSpPr>
          <p:cNvPr id="17411" name="Frameworks heading"/>
          <p:cNvSpPr txBox="1"/>
          <p:nvPr/>
        </p:nvSpPr>
        <p:spPr>
          <a:xfrm>
            <a:off x="457200" y="11887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 u="none">
                <a:solidFill>
                  <a:srgbClr val="1F3864"/>
                </a:solidFill>
                <a:latin typeface="Calibri"/>
              </a:rPr>
              <a:t>Security frameworks</a:t>
            </a:r>
          </a:p>
        </p:txBody>
      </p:sp>
      <p:sp>
        <p:nvSpPr>
          <p:cNvPr id="17412" name="Framework 1 card"/>
          <p:cNvSpPr/>
          <p:nvPr/>
        </p:nvSpPr>
        <p:spPr>
          <a:xfrm>
            <a:off x="457200" y="1517904"/>
            <a:ext cx="6309360" cy="749808"/>
          </a:xfrm>
          <a:prstGeom prst="roundRect">
            <a:avLst>
              <a:gd name="adj" fmla="val 8536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3" name="Framework 1 text"/>
          <p:cNvSpPr txBox="1"/>
          <p:nvPr/>
        </p:nvSpPr>
        <p:spPr>
          <a:xfrm>
            <a:off x="621792" y="1517904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350" b="1" i="0" u="none">
                <a:solidFill>
                  <a:srgbClr val="1F3864"/>
                </a:solidFill>
                <a:latin typeface="Calibri"/>
              </a:rPr>
              <a:t>NIST SP 800-53 Rev. 5</a:t>
            </a:r>
          </a:p>
          <a:p>
            <a:pPr algn="l" marL="0" indent="0">
              <a:buNone/>
            </a:pPr>
            <a:r>
              <a:rPr sz="1150" b="0" i="0" u="none">
                <a:solidFill>
                  <a:srgbClr val="1F2937"/>
                </a:solidFill>
                <a:latin typeface="Calibri"/>
              </a:rPr>
              <a:t>AC-8, AC-17, AU-2, AU-8, CM-7, IA-5</a:t>
            </a:r>
          </a:p>
        </p:txBody>
      </p:sp>
      <p:sp>
        <p:nvSpPr>
          <p:cNvPr id="17414" name="Framework 1 tag"/>
          <p:cNvSpPr txBox="1"/>
          <p:nvPr/>
        </p:nvSpPr>
        <p:spPr>
          <a:xfrm>
            <a:off x="5074920" y="1517904"/>
            <a:ext cx="1554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150" b="1" i="0" u="none">
                <a:solidFill>
                  <a:srgbClr val="0D9488"/>
                </a:solidFill>
                <a:latin typeface="Calibri"/>
              </a:rPr>
              <a:t>✓ Used in prototype</a:t>
            </a:r>
          </a:p>
        </p:txBody>
      </p:sp>
      <p:sp>
        <p:nvSpPr>
          <p:cNvPr id="17415" name="Framework 2 card"/>
          <p:cNvSpPr/>
          <p:nvPr/>
        </p:nvSpPr>
        <p:spPr>
          <a:xfrm>
            <a:off x="457200" y="2359152"/>
            <a:ext cx="6309360" cy="749808"/>
          </a:xfrm>
          <a:prstGeom prst="roundRect">
            <a:avLst>
              <a:gd name="adj" fmla="val 8536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6" name="Framework 2 text"/>
          <p:cNvSpPr txBox="1"/>
          <p:nvPr/>
        </p:nvSpPr>
        <p:spPr>
          <a:xfrm>
            <a:off x="621792" y="2359152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350" b="1" i="0" u="none">
                <a:solidFill>
                  <a:srgbClr val="1F3864"/>
                </a:solidFill>
                <a:latin typeface="Calibri"/>
              </a:rPr>
              <a:t>CERT-In Directions, 28 April 2022</a:t>
            </a:r>
          </a:p>
          <a:p>
            <a:pPr algn="l" marL="0" indent="0">
              <a:buNone/>
            </a:pPr>
            <a:r>
              <a:rPr sz="1150" b="0" i="0" u="none">
                <a:solidFill>
                  <a:srgbClr val="1F2937"/>
                </a:solidFill>
                <a:latin typeface="Calibri"/>
              </a:rPr>
              <a:t>Under Section 70B(6) of the IT Act, 2000: items (i) and (iv)</a:t>
            </a:r>
          </a:p>
        </p:txBody>
      </p:sp>
      <p:sp>
        <p:nvSpPr>
          <p:cNvPr id="17417" name="Framework 2 tag"/>
          <p:cNvSpPr txBox="1"/>
          <p:nvPr/>
        </p:nvSpPr>
        <p:spPr>
          <a:xfrm>
            <a:off x="5074920" y="2359152"/>
            <a:ext cx="1554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150" b="1" i="0" u="none">
                <a:solidFill>
                  <a:srgbClr val="0D9488"/>
                </a:solidFill>
                <a:latin typeface="Calibri"/>
              </a:rPr>
              <a:t>✓ Used in prototype</a:t>
            </a:r>
          </a:p>
        </p:txBody>
      </p:sp>
      <p:sp>
        <p:nvSpPr>
          <p:cNvPr id="17418" name="Framework 3 card"/>
          <p:cNvSpPr/>
          <p:nvPr/>
        </p:nvSpPr>
        <p:spPr>
          <a:xfrm>
            <a:off x="457200" y="3200400"/>
            <a:ext cx="6309360" cy="749808"/>
          </a:xfrm>
          <a:prstGeom prst="roundRect">
            <a:avLst>
              <a:gd name="adj" fmla="val 8536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9" name="Framework 3 text"/>
          <p:cNvSpPr txBox="1"/>
          <p:nvPr/>
        </p:nvSpPr>
        <p:spPr>
          <a:xfrm>
            <a:off x="621792" y="3200400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350" b="1" i="0" u="none">
                <a:solidFill>
                  <a:srgbClr val="1F3864"/>
                </a:solidFill>
                <a:latin typeface="Calibri"/>
              </a:rPr>
              <a:t>CIS Benchmarks</a:t>
            </a:r>
          </a:p>
          <a:p>
            <a:pPr algn="l" marL="0" indent="0">
              <a:buNone/>
            </a:pPr>
            <a:r>
              <a:rPr sz="1150" b="0" i="0" u="none">
                <a:solidFill>
                  <a:srgbClr val="1F2937"/>
                </a:solidFill>
                <a:latin typeface="Calibri"/>
              </a:rPr>
              <a:t>Cisco IOS and Juniper Junos secure configuration</a:t>
            </a:r>
          </a:p>
        </p:txBody>
      </p:sp>
      <p:sp>
        <p:nvSpPr>
          <p:cNvPr id="17420" name="Framework 3 tag"/>
          <p:cNvSpPr txBox="1"/>
          <p:nvPr/>
        </p:nvSpPr>
        <p:spPr>
          <a:xfrm>
            <a:off x="5074920" y="3200400"/>
            <a:ext cx="1554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150" b="1" i="0" u="none">
                <a:solidFill>
                  <a:srgbClr val="B45309"/>
                </a:solidFill>
                <a:latin typeface="Calibri"/>
              </a:rPr>
              <a:t>◇ Planned</a:t>
            </a:r>
          </a:p>
        </p:txBody>
      </p:sp>
      <p:sp>
        <p:nvSpPr>
          <p:cNvPr id="17421" name="Framework 4 card"/>
          <p:cNvSpPr/>
          <p:nvPr/>
        </p:nvSpPr>
        <p:spPr>
          <a:xfrm>
            <a:off x="457200" y="4041648"/>
            <a:ext cx="6309360" cy="749808"/>
          </a:xfrm>
          <a:prstGeom prst="roundRect">
            <a:avLst>
              <a:gd name="adj" fmla="val 8536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2" name="Framework 4 text"/>
          <p:cNvSpPr txBox="1"/>
          <p:nvPr/>
        </p:nvSpPr>
        <p:spPr>
          <a:xfrm>
            <a:off x="621792" y="4041648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350" b="1" i="0" u="none">
                <a:solidFill>
                  <a:srgbClr val="1F3864"/>
                </a:solidFill>
                <a:latin typeface="Calibri"/>
              </a:rPr>
              <a:t>DISA STIG</a:t>
            </a:r>
          </a:p>
          <a:p>
            <a:pPr algn="l" marL="0" indent="0">
              <a:buNone/>
            </a:pPr>
            <a:r>
              <a:rPr sz="1150" b="0" i="0" u="none">
                <a:solidFill>
                  <a:srgbClr val="1F2937"/>
                </a:solidFill>
                <a:latin typeface="Calibri"/>
              </a:rPr>
              <a:t>Security configuration guidance (reference)</a:t>
            </a:r>
          </a:p>
        </p:txBody>
      </p:sp>
      <p:sp>
        <p:nvSpPr>
          <p:cNvPr id="17423" name="Framework 4 tag"/>
          <p:cNvSpPr txBox="1"/>
          <p:nvPr/>
        </p:nvSpPr>
        <p:spPr>
          <a:xfrm>
            <a:off x="5074920" y="4041648"/>
            <a:ext cx="1554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150" b="1" i="0" u="none">
                <a:solidFill>
                  <a:srgbClr val="64748B"/>
                </a:solidFill>
                <a:latin typeface="Calibri"/>
              </a:rPr>
              <a:t>Reference</a:t>
            </a:r>
          </a:p>
        </p:txBody>
      </p:sp>
      <p:sp>
        <p:nvSpPr>
          <p:cNvPr id="17424" name="Framework 5 card"/>
          <p:cNvSpPr/>
          <p:nvPr/>
        </p:nvSpPr>
        <p:spPr>
          <a:xfrm>
            <a:off x="457200" y="4882896"/>
            <a:ext cx="6309360" cy="749808"/>
          </a:xfrm>
          <a:prstGeom prst="roundRect">
            <a:avLst>
              <a:gd name="adj" fmla="val 8536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5" name="Framework 5 text"/>
          <p:cNvSpPr txBox="1"/>
          <p:nvPr/>
        </p:nvSpPr>
        <p:spPr>
          <a:xfrm>
            <a:off x="621792" y="4882896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sz="1350" b="1" i="0" u="none">
                <a:solidFill>
                  <a:srgbClr val="1F3864"/>
                </a:solidFill>
                <a:latin typeface="Calibri"/>
              </a:rPr>
              <a:t>NCIIPC guidelines and RBI Cyber Security Framework</a:t>
            </a:r>
          </a:p>
          <a:p>
            <a:pPr algn="l" marL="0" indent="0">
              <a:buNone/>
            </a:pPr>
            <a:r>
              <a:rPr sz="1150" b="0" i="0" u="none">
                <a:solidFill>
                  <a:srgbClr val="1F2937"/>
                </a:solidFill>
                <a:latin typeface="Calibri"/>
              </a:rPr>
              <a:t>India-specific mappings</a:t>
            </a:r>
          </a:p>
        </p:txBody>
      </p:sp>
      <p:sp>
        <p:nvSpPr>
          <p:cNvPr id="17426" name="Framework 5 tag"/>
          <p:cNvSpPr txBox="1"/>
          <p:nvPr/>
        </p:nvSpPr>
        <p:spPr>
          <a:xfrm>
            <a:off x="5074920" y="4882896"/>
            <a:ext cx="1554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150" b="1" i="0" u="none">
                <a:solidFill>
                  <a:srgbClr val="B45309"/>
                </a:solidFill>
                <a:latin typeface="Calibri"/>
              </a:rPr>
              <a:t>◇ Planned</a:t>
            </a:r>
          </a:p>
        </p:txBody>
      </p:sp>
      <p:sp>
        <p:nvSpPr>
          <p:cNvPr id="17427" name="Vendor heading"/>
          <p:cNvSpPr txBox="1"/>
          <p:nvPr/>
        </p:nvSpPr>
        <p:spPr>
          <a:xfrm>
            <a:off x="7040880" y="11887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 u="none">
                <a:solidFill>
                  <a:srgbClr val="1F3864"/>
                </a:solidFill>
                <a:latin typeface="Calibri"/>
              </a:rPr>
              <a:t>Vendor documentation</a:t>
            </a:r>
          </a:p>
        </p:txBody>
      </p:sp>
      <p:sp>
        <p:nvSpPr>
          <p:cNvPr id="17428" name="Vendor card"/>
          <p:cNvSpPr/>
          <p:nvPr/>
        </p:nvSpPr>
        <p:spPr>
          <a:xfrm>
            <a:off x="7040880" y="1517904"/>
            <a:ext cx="4690872" cy="1463040"/>
          </a:xfrm>
          <a:prstGeom prst="roundRect">
            <a:avLst>
              <a:gd name="adj" fmla="val 4375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9" name="Vendor list"/>
          <p:cNvSpPr txBox="1"/>
          <p:nvPr/>
        </p:nvSpPr>
        <p:spPr>
          <a:xfrm>
            <a:off x="7223760" y="1517904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3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300" b="0" i="0" u="none">
                <a:solidFill>
                  <a:srgbClr val="1F2937"/>
                </a:solidFill>
                <a:latin typeface="Calibri"/>
              </a:rPr>
              <a:t>Cisco IOS security configuration guides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3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300" b="0" i="0" u="none">
                <a:solidFill>
                  <a:srgbClr val="1F2937"/>
                </a:solidFill>
                <a:latin typeface="Calibri"/>
              </a:rPr>
              <a:t>Juniper Junos security documentation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300" b="1" i="0" u="none">
                <a:solidFill>
                  <a:srgbClr val="0D9488"/>
                </a:solidFill>
                <a:latin typeface="Calibri"/>
              </a:rPr>
              <a:t>✓ </a:t>
            </a:r>
            <a:r>
              <a:rPr sz="1300" b="0" i="0" u="none">
                <a:solidFill>
                  <a:srgbClr val="1F2937"/>
                </a:solidFill>
                <a:latin typeface="Calibri"/>
              </a:rPr>
              <a:t>Fortinet FortiOS administration and CLI documentation</a:t>
            </a:r>
          </a:p>
          <a:p>
            <a:pPr algn="l" marL="0" indent="0">
              <a:buNone/>
            </a:pPr>
            <a:r>
              <a:rPr sz="1300" b="1" i="0" u="none">
                <a:solidFill>
                  <a:srgbClr val="B45309"/>
                </a:solidFill>
                <a:latin typeface="Calibri"/>
              </a:rPr>
              <a:t>◇ </a:t>
            </a:r>
            <a:r>
              <a:rPr sz="1300" b="0" i="0" u="none">
                <a:solidFill>
                  <a:srgbClr val="1F2937"/>
                </a:solidFill>
                <a:latin typeface="Calibri"/>
              </a:rPr>
              <a:t>Palo Alto PAN-OS documentation</a:t>
            </a:r>
          </a:p>
        </p:txBody>
      </p:sp>
      <p:sp>
        <p:nvSpPr>
          <p:cNvPr id="17430" name="Technical heading"/>
          <p:cNvSpPr txBox="1"/>
          <p:nvPr/>
        </p:nvSpPr>
        <p:spPr>
          <a:xfrm>
            <a:off x="7040880" y="3154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 u="none">
                <a:solidFill>
                  <a:srgbClr val="1F3864"/>
                </a:solidFill>
                <a:latin typeface="Calibri"/>
              </a:rPr>
              <a:t>Technical research</a:t>
            </a:r>
          </a:p>
        </p:txBody>
      </p:sp>
      <p:sp>
        <p:nvSpPr>
          <p:cNvPr id="17431" name="Technical card"/>
          <p:cNvSpPr/>
          <p:nvPr/>
        </p:nvSpPr>
        <p:spPr>
          <a:xfrm>
            <a:off x="7040880" y="3483864"/>
            <a:ext cx="4690872" cy="1783080"/>
          </a:xfrm>
          <a:prstGeom prst="roundRect">
            <a:avLst>
              <a:gd name="adj" fmla="val 3589"/>
            </a:avLst>
          </a:prstGeom>
          <a:solidFill>
            <a:srgbClr val="EAF1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2" name="Technical list"/>
          <p:cNvSpPr txBox="1"/>
          <p:nvPr/>
        </p:nvSpPr>
        <p:spPr>
          <a:xfrm>
            <a:off x="7223760" y="3483864"/>
            <a:ext cx="438912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300" b="0" i="0" u="none">
                <a:solidFill>
                  <a:srgbClr val="1F2937"/>
                </a:solidFill>
                <a:latin typeface="Calibri"/>
              </a:rPr>
              <a:t>Multi-vendor configuration parsing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300" b="0" i="0" u="none">
                <a:solidFill>
                  <a:srgbClr val="1F2937"/>
                </a:solidFill>
                <a:latin typeface="Calibri"/>
              </a:rPr>
              <a:t>Configuration normalisation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300" b="0" i="0" u="none">
                <a:solidFill>
                  <a:srgbClr val="1F2937"/>
                </a:solidFill>
                <a:latin typeface="Calibri"/>
              </a:rPr>
              <a:t>Rule-based policy evaluation</a:t>
            </a:r>
          </a:p>
          <a:p>
            <a:pPr algn="l" marL="155448" indent="-155448">
              <a:spcAft>
                <a:spcPts val="300"/>
              </a:spcAft>
              <a:buFont typeface="Arial"/>
              <a:buChar char="•"/>
            </a:pPr>
            <a:r>
              <a:rPr sz="1300" b="0" i="0" u="none">
                <a:solidFill>
                  <a:srgbClr val="1F2937"/>
                </a:solidFill>
                <a:latin typeface="Calibri"/>
              </a:rPr>
              <a:t>Explainable security analysis</a:t>
            </a:r>
          </a:p>
          <a:p>
            <a:pPr algn="l" marL="155448" indent="-155448">
              <a:buFont typeface="Arial"/>
              <a:buChar char="•"/>
            </a:pPr>
            <a:r>
              <a:rPr sz="1300" b="0" i="0" u="none">
                <a:solidFill>
                  <a:srgbClr val="1F2937"/>
                </a:solidFill>
                <a:latin typeface="Calibri"/>
              </a:rPr>
              <a:t>Vendor-specific remediation generation</a:t>
            </a:r>
          </a:p>
        </p:txBody>
      </p:sp>
      <p:sp>
        <p:nvSpPr>
          <p:cNvPr id="17433" name="Disclaimer banner"/>
          <p:cNvSpPr/>
          <p:nvPr/>
        </p:nvSpPr>
        <p:spPr>
          <a:xfrm>
            <a:off x="457200" y="5760720"/>
            <a:ext cx="11274552" cy="4572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4" name="Disclaimer text"/>
          <p:cNvSpPr txBox="1"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300" b="0" i="1" u="none">
                <a:solidFill>
                  <a:srgbClr val="FFFFFF"/>
                </a:solidFill>
                <a:latin typeface="Calibri"/>
              </a:rPr>
              <a:t>Framework mappings show indicative alignment and are not a formal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195</Words>
  <Application>Microsoft Office PowerPoint</Application>
  <PresentationFormat>Widescreen</PresentationFormat>
  <Paragraphs>49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Rashmi Deepak Toragallamath</cp:lastModifiedBy>
  <cp:revision>148</cp:revision>
  <dcterms:created xsi:type="dcterms:W3CDTF">2013-12-12T18:46:50Z</dcterms:created>
  <dcterms:modified xsi:type="dcterms:W3CDTF">2026-10-05T10:18:17Z</dcterms:modified>
  <cp:category/>
</cp:coreProperties>
</file>